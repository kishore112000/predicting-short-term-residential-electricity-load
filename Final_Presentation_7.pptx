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Jason Kluge"/>
  <p:cmAuthor clrIdx="1" id="1" initials="" lastIdx="1" name="Steve Burgo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9FCDCF-194E-4FC4-898B-3F7575970EA5}">
  <a:tblStyle styleId="{2F9FCDCF-194E-4FC4-898B-3F7575970EA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aleway-regular.fntdata"/><Relationship Id="rId25" Type="http://schemas.openxmlformats.org/officeDocument/2006/relationships/slide" Target="slides/slide18.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Raleway-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4.xml"/><Relationship Id="rId33" Type="http://schemas.openxmlformats.org/officeDocument/2006/relationships/font" Target="fonts/Lato-boldItalic.fntdata"/><Relationship Id="rId10" Type="http://schemas.openxmlformats.org/officeDocument/2006/relationships/slide" Target="slides/slide3.xml"/><Relationship Id="rId32" Type="http://schemas.openxmlformats.org/officeDocument/2006/relationships/font" Target="fonts/Lato-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12-05T07:15:46.440">
    <p:pos x="6000" y="0"/>
    <p:text>hey feel free to change these back, thought maybe implmentation details would be beneficial?</p:text>
  </p:cm>
  <p:cm authorId="1" idx="1" dt="2023-12-05T06:39:58.250">
    <p:pos x="6000" y="0"/>
    <p:text>Sounds good, I was thinking of leaving the models out since we only have 10 minutes. Im going to add some info on our setup like github and using keras and jupyter libraries to add information on what we learned</p:text>
  </p:cm>
  <p:cm authorId="0" idx="2" dt="2023-12-05T07:15:46.440">
    <p:pos x="6000" y="0"/>
    <p:text>Sounds good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irect.mit.edu/neco/article-abstract/9/8/1735/6109/Long-Short-Term-Memory?redirectedFrom=full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1909.01792"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1909.01792"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1"/>
                </a:solidFill>
                <a:latin typeface="Raleway"/>
                <a:ea typeface="Raleway"/>
                <a:cs typeface="Raleway"/>
                <a:sym typeface="Raleway"/>
              </a:rPr>
              <a:t>Predicting Short-Term Residential Electricity Load</a:t>
            </a:r>
            <a:endParaRPr b="1" sz="2900">
              <a:solidFill>
                <a:schemeClr val="dk1"/>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lang="en" sz="2400">
                <a:solidFill>
                  <a:schemeClr val="dk1"/>
                </a:solidFill>
                <a:latin typeface="Lato"/>
                <a:ea typeface="Lato"/>
                <a:cs typeface="Lato"/>
                <a:sym typeface="Lato"/>
              </a:rPr>
              <a:t>By: Steve Burgos, Kishore Prakasen, Ivan Macsemchuck, Jason Kluge</a:t>
            </a:r>
            <a:endParaRPr b="1" sz="2900">
              <a:solidFill>
                <a:schemeClr val="dk1"/>
              </a:solidFill>
              <a:latin typeface="Raleway"/>
              <a:ea typeface="Raleway"/>
              <a:cs typeface="Raleway"/>
              <a:sym typeface="Raleway"/>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807aac26f9_2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807aac26f9_2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rgbClr val="F46524"/>
              </a:buClr>
              <a:buSzPts val="1000"/>
              <a:buFont typeface="Raleway"/>
              <a:buChar char="➔"/>
            </a:pPr>
            <a:r>
              <a:rPr b="1" lang="en" sz="1000">
                <a:solidFill>
                  <a:srgbClr val="F46524"/>
                </a:solidFill>
                <a:latin typeface="Raleway"/>
                <a:ea typeface="Raleway"/>
                <a:cs typeface="Raleway"/>
                <a:sym typeface="Raleway"/>
              </a:rPr>
              <a:t>Introduction</a:t>
            </a:r>
            <a:endParaRPr sz="1000">
              <a:solidFill>
                <a:schemeClr val="dk1"/>
              </a:solidFill>
              <a:latin typeface="Raleway"/>
              <a:ea typeface="Raleway"/>
              <a:cs typeface="Raleway"/>
              <a:sym typeface="Raleway"/>
            </a:endParaRPr>
          </a:p>
          <a:p>
            <a:pPr indent="-292100" lvl="0" marL="457200" rtl="0" algn="l">
              <a:lnSpc>
                <a:spcPct val="115000"/>
              </a:lnSpc>
              <a:spcBef>
                <a:spcPts val="1000"/>
              </a:spcBef>
              <a:spcAft>
                <a:spcPts val="0"/>
              </a:spcAft>
              <a:buClr>
                <a:srgbClr val="F46524"/>
              </a:buClr>
              <a:buSzPts val="1000"/>
              <a:buFont typeface="Raleway"/>
              <a:buChar char="➔"/>
            </a:pPr>
            <a:r>
              <a:rPr b="1" lang="en" sz="1000">
                <a:solidFill>
                  <a:srgbClr val="F46524"/>
                </a:solidFill>
                <a:latin typeface="Raleway"/>
                <a:ea typeface="Raleway"/>
                <a:cs typeface="Raleway"/>
                <a:sym typeface="Raleway"/>
              </a:rPr>
              <a:t>Research Problem</a:t>
            </a:r>
            <a:endParaRPr sz="1000">
              <a:solidFill>
                <a:schemeClr val="dk1"/>
              </a:solidFill>
              <a:latin typeface="Raleway"/>
              <a:ea typeface="Raleway"/>
              <a:cs typeface="Raleway"/>
              <a:sym typeface="Raleway"/>
            </a:endParaRPr>
          </a:p>
          <a:p>
            <a:pPr indent="-292100" lvl="0" marL="457200" rtl="0" algn="l">
              <a:lnSpc>
                <a:spcPct val="115000"/>
              </a:lnSpc>
              <a:spcBef>
                <a:spcPts val="1000"/>
              </a:spcBef>
              <a:spcAft>
                <a:spcPts val="0"/>
              </a:spcAft>
              <a:buClr>
                <a:srgbClr val="F46524"/>
              </a:buClr>
              <a:buSzPts val="1000"/>
              <a:buFont typeface="Raleway"/>
              <a:buChar char="➔"/>
            </a:pPr>
            <a:r>
              <a:rPr b="1" lang="en" sz="1000">
                <a:solidFill>
                  <a:srgbClr val="F46524"/>
                </a:solidFill>
                <a:latin typeface="Raleway"/>
                <a:ea typeface="Raleway"/>
                <a:cs typeface="Raleway"/>
                <a:sym typeface="Raleway"/>
              </a:rPr>
              <a:t>Proposed Research</a:t>
            </a:r>
            <a:endParaRPr sz="1000">
              <a:solidFill>
                <a:schemeClr val="dk1"/>
              </a:solidFill>
              <a:latin typeface="Raleway"/>
              <a:ea typeface="Raleway"/>
              <a:cs typeface="Raleway"/>
              <a:sym typeface="Raleway"/>
            </a:endParaRPr>
          </a:p>
          <a:p>
            <a:pPr indent="-292100" lvl="0" marL="457200" rtl="0" algn="l">
              <a:lnSpc>
                <a:spcPct val="115000"/>
              </a:lnSpc>
              <a:spcBef>
                <a:spcPts val="1000"/>
              </a:spcBef>
              <a:spcAft>
                <a:spcPts val="0"/>
              </a:spcAft>
              <a:buClr>
                <a:srgbClr val="F46524"/>
              </a:buClr>
              <a:buSzPts val="1000"/>
              <a:buFont typeface="Raleway"/>
              <a:buChar char="➔"/>
            </a:pPr>
            <a:r>
              <a:rPr b="1" lang="en" sz="1000">
                <a:solidFill>
                  <a:srgbClr val="F46524"/>
                </a:solidFill>
                <a:latin typeface="Raleway"/>
                <a:ea typeface="Raleway"/>
                <a:cs typeface="Raleway"/>
                <a:sym typeface="Raleway"/>
              </a:rPr>
              <a:t>RNN Models</a:t>
            </a:r>
            <a:endParaRPr b="1" sz="1000">
              <a:solidFill>
                <a:srgbClr val="F46524"/>
              </a:solidFill>
              <a:latin typeface="Raleway"/>
              <a:ea typeface="Raleway"/>
              <a:cs typeface="Raleway"/>
              <a:sym typeface="Raleway"/>
            </a:endParaRPr>
          </a:p>
          <a:p>
            <a:pPr indent="-292100" lvl="1" marL="914400" rtl="0" algn="l">
              <a:lnSpc>
                <a:spcPct val="115000"/>
              </a:lnSpc>
              <a:spcBef>
                <a:spcPts val="1000"/>
              </a:spcBef>
              <a:spcAft>
                <a:spcPts val="0"/>
              </a:spcAft>
              <a:buClr>
                <a:srgbClr val="F46524"/>
              </a:buClr>
              <a:buSzPts val="1000"/>
              <a:buFont typeface="Raleway"/>
              <a:buChar char="◆"/>
            </a:pPr>
            <a:r>
              <a:rPr lang="en" sz="1000">
                <a:solidFill>
                  <a:schemeClr val="dk1"/>
                </a:solidFill>
                <a:latin typeface="Raleway"/>
                <a:ea typeface="Raleway"/>
                <a:cs typeface="Raleway"/>
                <a:sym typeface="Raleway"/>
              </a:rPr>
              <a:t>Simple RNN</a:t>
            </a:r>
            <a:endParaRPr sz="1000">
              <a:solidFill>
                <a:schemeClr val="dk1"/>
              </a:solidFill>
              <a:latin typeface="Raleway"/>
              <a:ea typeface="Raleway"/>
              <a:cs typeface="Raleway"/>
              <a:sym typeface="Raleway"/>
            </a:endParaRPr>
          </a:p>
          <a:p>
            <a:pPr indent="-292100" lvl="1" marL="914400" rtl="0" algn="l">
              <a:lnSpc>
                <a:spcPct val="115000"/>
              </a:lnSpc>
              <a:spcBef>
                <a:spcPts val="1000"/>
              </a:spcBef>
              <a:spcAft>
                <a:spcPts val="0"/>
              </a:spcAft>
              <a:buClr>
                <a:srgbClr val="F46524"/>
              </a:buClr>
              <a:buSzPts val="1000"/>
              <a:buFont typeface="Raleway"/>
              <a:buChar char="◆"/>
            </a:pPr>
            <a:r>
              <a:rPr lang="en" sz="1000">
                <a:solidFill>
                  <a:schemeClr val="dk1"/>
                </a:solidFill>
                <a:latin typeface="Raleway"/>
                <a:ea typeface="Raleway"/>
                <a:cs typeface="Raleway"/>
                <a:sym typeface="Raleway"/>
              </a:rPr>
              <a:t>LSTM</a:t>
            </a:r>
            <a:endParaRPr sz="1000">
              <a:solidFill>
                <a:schemeClr val="dk1"/>
              </a:solidFill>
              <a:latin typeface="Raleway"/>
              <a:ea typeface="Raleway"/>
              <a:cs typeface="Raleway"/>
              <a:sym typeface="Raleway"/>
            </a:endParaRPr>
          </a:p>
          <a:p>
            <a:pPr indent="-292100" lvl="1" marL="914400" rtl="0" algn="l">
              <a:lnSpc>
                <a:spcPct val="115000"/>
              </a:lnSpc>
              <a:spcBef>
                <a:spcPts val="1000"/>
              </a:spcBef>
              <a:spcAft>
                <a:spcPts val="0"/>
              </a:spcAft>
              <a:buClr>
                <a:srgbClr val="F46524"/>
              </a:buClr>
              <a:buSzPts val="1000"/>
              <a:buFont typeface="Raleway"/>
              <a:buChar char="◆"/>
            </a:pPr>
            <a:r>
              <a:rPr lang="en" sz="1000">
                <a:solidFill>
                  <a:schemeClr val="dk1"/>
                </a:solidFill>
                <a:latin typeface="Raleway"/>
                <a:ea typeface="Raleway"/>
                <a:cs typeface="Raleway"/>
                <a:sym typeface="Raleway"/>
              </a:rPr>
              <a:t>MomentumRNN</a:t>
            </a:r>
            <a:endParaRPr sz="1000">
              <a:solidFill>
                <a:schemeClr val="dk1"/>
              </a:solidFill>
              <a:latin typeface="Raleway"/>
              <a:ea typeface="Raleway"/>
              <a:cs typeface="Raleway"/>
              <a:sym typeface="Raleway"/>
            </a:endParaRPr>
          </a:p>
          <a:p>
            <a:pPr indent="-292100" lvl="1" marL="914400" rtl="0" algn="l">
              <a:lnSpc>
                <a:spcPct val="115000"/>
              </a:lnSpc>
              <a:spcBef>
                <a:spcPts val="1000"/>
              </a:spcBef>
              <a:spcAft>
                <a:spcPts val="0"/>
              </a:spcAft>
              <a:buClr>
                <a:srgbClr val="F46524"/>
              </a:buClr>
              <a:buSzPts val="1000"/>
              <a:buFont typeface="Raleway"/>
              <a:buChar char="◆"/>
            </a:pPr>
            <a:r>
              <a:rPr lang="en" sz="1000">
                <a:solidFill>
                  <a:schemeClr val="dk1"/>
                </a:solidFill>
                <a:latin typeface="Raleway"/>
                <a:ea typeface="Raleway"/>
                <a:cs typeface="Raleway"/>
                <a:sym typeface="Raleway"/>
              </a:rPr>
              <a:t>Mogrifier LSTM</a:t>
            </a:r>
            <a:endParaRPr sz="1000">
              <a:solidFill>
                <a:schemeClr val="dk1"/>
              </a:solidFill>
              <a:latin typeface="Raleway"/>
              <a:ea typeface="Raleway"/>
              <a:cs typeface="Raleway"/>
              <a:sym typeface="Raleway"/>
            </a:endParaRPr>
          </a:p>
          <a:p>
            <a:pPr indent="-292100" lvl="0" marL="457200" rtl="0" algn="l">
              <a:lnSpc>
                <a:spcPct val="115000"/>
              </a:lnSpc>
              <a:spcBef>
                <a:spcPts val="1000"/>
              </a:spcBef>
              <a:spcAft>
                <a:spcPts val="0"/>
              </a:spcAft>
              <a:buClr>
                <a:srgbClr val="F46524"/>
              </a:buClr>
              <a:buSzPts val="1000"/>
              <a:buFont typeface="Raleway"/>
              <a:buChar char="➔"/>
            </a:pPr>
            <a:r>
              <a:rPr b="1" lang="en" sz="1000">
                <a:solidFill>
                  <a:srgbClr val="F46524"/>
                </a:solidFill>
                <a:latin typeface="Raleway"/>
                <a:ea typeface="Raleway"/>
                <a:cs typeface="Raleway"/>
                <a:sym typeface="Raleway"/>
              </a:rPr>
              <a:t>Data Collection</a:t>
            </a:r>
            <a:endParaRPr b="1" sz="1000">
              <a:solidFill>
                <a:srgbClr val="F46524"/>
              </a:solidFill>
              <a:latin typeface="Raleway"/>
              <a:ea typeface="Raleway"/>
              <a:cs typeface="Raleway"/>
              <a:sym typeface="Raleway"/>
            </a:endParaRPr>
          </a:p>
          <a:p>
            <a:pPr indent="-292100" lvl="0" marL="457200" rtl="0" algn="l">
              <a:lnSpc>
                <a:spcPct val="115000"/>
              </a:lnSpc>
              <a:spcBef>
                <a:spcPts val="1000"/>
              </a:spcBef>
              <a:spcAft>
                <a:spcPts val="0"/>
              </a:spcAft>
              <a:buClr>
                <a:srgbClr val="F46524"/>
              </a:buClr>
              <a:buSzPts val="1000"/>
              <a:buFont typeface="Raleway"/>
              <a:buChar char="➔"/>
            </a:pPr>
            <a:r>
              <a:rPr b="1" lang="en" sz="1000">
                <a:solidFill>
                  <a:srgbClr val="F46524"/>
                </a:solidFill>
                <a:latin typeface="Raleway"/>
                <a:ea typeface="Raleway"/>
                <a:cs typeface="Raleway"/>
                <a:sym typeface="Raleway"/>
              </a:rPr>
              <a:t>Expected Results</a:t>
            </a:r>
            <a:endParaRPr b="1" sz="1000">
              <a:solidFill>
                <a:srgbClr val="F46524"/>
              </a:solidFill>
              <a:latin typeface="Raleway"/>
              <a:ea typeface="Raleway"/>
              <a:cs typeface="Raleway"/>
              <a:sym typeface="Raleway"/>
            </a:endParaRPr>
          </a:p>
          <a:p>
            <a:pPr indent="-292100" lvl="0" marL="457200" rtl="0" algn="l">
              <a:lnSpc>
                <a:spcPct val="115000"/>
              </a:lnSpc>
              <a:spcBef>
                <a:spcPts val="1000"/>
              </a:spcBef>
              <a:spcAft>
                <a:spcPts val="0"/>
              </a:spcAft>
              <a:buClr>
                <a:srgbClr val="F46524"/>
              </a:buClr>
              <a:buSzPts val="1000"/>
              <a:buFont typeface="Raleway"/>
              <a:buChar char="➔"/>
            </a:pPr>
            <a:r>
              <a:rPr b="1" lang="en" sz="1000">
                <a:solidFill>
                  <a:srgbClr val="F46524"/>
                </a:solidFill>
                <a:latin typeface="Raleway"/>
                <a:ea typeface="Raleway"/>
                <a:cs typeface="Raleway"/>
                <a:sym typeface="Raleway"/>
              </a:rPr>
              <a:t>Tasks</a:t>
            </a:r>
            <a:endParaRPr b="1" sz="1000">
              <a:solidFill>
                <a:srgbClr val="F46524"/>
              </a:solidFill>
              <a:latin typeface="Raleway"/>
              <a:ea typeface="Raleway"/>
              <a:cs typeface="Raleway"/>
              <a:sym typeface="Raleway"/>
            </a:endParaRPr>
          </a:p>
          <a:p>
            <a:pPr indent="-279400" lvl="0" marL="457200" rtl="0" algn="l">
              <a:lnSpc>
                <a:spcPct val="115000"/>
              </a:lnSpc>
              <a:spcBef>
                <a:spcPts val="1000"/>
              </a:spcBef>
              <a:spcAft>
                <a:spcPts val="1000"/>
              </a:spcAft>
              <a:buClr>
                <a:srgbClr val="F46524"/>
              </a:buClr>
              <a:buSzPts val="800"/>
              <a:buFont typeface="Raleway"/>
              <a:buChar char="➔"/>
            </a:pPr>
            <a:r>
              <a:rPr b="1" lang="en" sz="1000">
                <a:solidFill>
                  <a:srgbClr val="F46524"/>
                </a:solidFill>
                <a:latin typeface="Raleway"/>
                <a:ea typeface="Raleway"/>
                <a:cs typeface="Raleway"/>
                <a:sym typeface="Raleway"/>
              </a:rPr>
              <a:t>Conclusion</a:t>
            </a:r>
            <a:br>
              <a:rPr lang="en" sz="800">
                <a:solidFill>
                  <a:schemeClr val="dk1"/>
                </a:solidFill>
                <a:latin typeface="Raleway"/>
                <a:ea typeface="Raleway"/>
                <a:cs typeface="Raleway"/>
                <a:sym typeface="Raleway"/>
              </a:rPr>
            </a:b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807aac26f9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807aac26f9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Advance Metering Infrastructure is an important part of ‘smart’ cities ICTs. AMI’s collect </a:t>
            </a:r>
            <a:r>
              <a:rPr lang="en"/>
              <a:t>continuous</a:t>
            </a:r>
            <a:r>
              <a:rPr lang="en"/>
              <a:t> information about utilities using smart meters. This allows for short-term load forecasting. Prior to smart meters, </a:t>
            </a:r>
            <a:r>
              <a:rPr lang="en"/>
              <a:t>employees</a:t>
            </a:r>
            <a:r>
              <a:rPr lang="en"/>
              <a:t> would have to come out and read meters usually once every month.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term load forecasting is typically a prediction for energy usage from a day to a week from now.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Accurate STLF lends itself to generation </a:t>
            </a:r>
            <a:r>
              <a:rPr lang="en"/>
              <a:t>scheduling, dealing with the supply and demand of the electrical grid, </a:t>
            </a:r>
            <a:endParaRPr/>
          </a:p>
          <a:p>
            <a:pPr indent="457200" lvl="0" marL="1371600" rtl="0" algn="l">
              <a:spcBef>
                <a:spcPts val="0"/>
              </a:spcBef>
              <a:spcAft>
                <a:spcPts val="0"/>
              </a:spcAft>
              <a:buNone/>
            </a:pPr>
            <a:r>
              <a:rPr lang="en"/>
              <a:t>optimizing power plant operations, </a:t>
            </a:r>
            <a:endParaRPr/>
          </a:p>
          <a:p>
            <a:pPr indent="457200" lvl="0" marL="1371600" rtl="0" algn="l">
              <a:spcBef>
                <a:spcPts val="0"/>
              </a:spcBef>
              <a:spcAft>
                <a:spcPts val="0"/>
              </a:spcAft>
              <a:buNone/>
            </a:pPr>
            <a:r>
              <a:rPr lang="en"/>
              <a:t>and reliability of the power system.</a:t>
            </a:r>
            <a:endParaRPr/>
          </a:p>
          <a:p>
            <a:pPr indent="0" lvl="0" marL="0" rtl="0" algn="l">
              <a:spcBef>
                <a:spcPts val="0"/>
              </a:spcBef>
              <a:spcAft>
                <a:spcPts val="0"/>
              </a:spcAft>
              <a:buNone/>
            </a:pPr>
            <a:r>
              <a:rPr lang="en"/>
              <a:t>(More on reliability) If load demand underestimated, there is a power supply shortage. If it is overestimated more resources than needed are used to generate the power.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lnSpc>
                <a:spcPct val="115000"/>
              </a:lnSpc>
              <a:spcBef>
                <a:spcPts val="0"/>
              </a:spcBef>
              <a:spcAft>
                <a:spcPts val="0"/>
              </a:spcAft>
              <a:buClr>
                <a:schemeClr val="dk1"/>
              </a:buClr>
              <a:buSzPts val="1800"/>
              <a:buFont typeface="Lato"/>
              <a:buChar char="●"/>
            </a:pPr>
            <a:r>
              <a:rPr b="1" lang="en" sz="1800">
                <a:solidFill>
                  <a:schemeClr val="dk1"/>
                </a:solidFill>
                <a:latin typeface="Lato"/>
                <a:ea typeface="Lato"/>
                <a:cs typeface="Lato"/>
                <a:sym typeface="Lato"/>
              </a:rPr>
              <a:t>Advance Metering Infrastructure (AMI) </a:t>
            </a:r>
            <a:r>
              <a:rPr lang="en" sz="1800">
                <a:solidFill>
                  <a:schemeClr val="dk1"/>
                </a:solidFill>
                <a:latin typeface="Lato"/>
                <a:ea typeface="Lato"/>
                <a:cs typeface="Lato"/>
                <a:sym typeface="Lato"/>
              </a:rPr>
              <a:t> used to collect continuous information about utilities</a:t>
            </a:r>
            <a:endParaRPr sz="1800">
              <a:solidFill>
                <a:schemeClr val="dk1"/>
              </a:solidFill>
              <a:latin typeface="Lato"/>
              <a:ea typeface="Lato"/>
              <a:cs typeface="Lato"/>
              <a:sym typeface="Lato"/>
            </a:endParaRPr>
          </a:p>
          <a:p>
            <a:pPr indent="-342900" lvl="0" marL="457200" rtl="0" algn="l">
              <a:lnSpc>
                <a:spcPct val="115000"/>
              </a:lnSpc>
              <a:spcBef>
                <a:spcPts val="0"/>
              </a:spcBef>
              <a:spcAft>
                <a:spcPts val="0"/>
              </a:spcAft>
              <a:buClr>
                <a:schemeClr val="dk1"/>
              </a:buClr>
              <a:buSzPts val="1800"/>
              <a:buFont typeface="Lato"/>
              <a:buChar char="●"/>
            </a:pPr>
            <a:r>
              <a:rPr b="1" lang="en" sz="1800">
                <a:solidFill>
                  <a:schemeClr val="dk1"/>
                </a:solidFill>
                <a:latin typeface="Lato"/>
                <a:ea typeface="Lato"/>
                <a:cs typeface="Lato"/>
                <a:sym typeface="Lato"/>
              </a:rPr>
              <a:t>Short-term load forecasting (STLF)</a:t>
            </a:r>
            <a:r>
              <a:rPr lang="en" sz="1800">
                <a:solidFill>
                  <a:schemeClr val="dk1"/>
                </a:solidFill>
                <a:latin typeface="Lato"/>
                <a:ea typeface="Lato"/>
                <a:cs typeface="Lato"/>
                <a:sym typeface="Lato"/>
              </a:rPr>
              <a:t> predicts electrical usage 1 day to a week in advance</a:t>
            </a:r>
            <a:endParaRPr sz="1800">
              <a:solidFill>
                <a:schemeClr val="dk1"/>
              </a:solidFill>
              <a:latin typeface="Lato"/>
              <a:ea typeface="Lato"/>
              <a:cs typeface="Lato"/>
              <a:sym typeface="Lato"/>
            </a:endParaRPr>
          </a:p>
          <a:p>
            <a:pPr indent="-342900" lvl="0" marL="457200" rtl="0" algn="l">
              <a:lnSpc>
                <a:spcPct val="115000"/>
              </a:lnSpc>
              <a:spcBef>
                <a:spcPts val="0"/>
              </a:spcBef>
              <a:spcAft>
                <a:spcPts val="0"/>
              </a:spcAft>
              <a:buClr>
                <a:schemeClr val="dk1"/>
              </a:buClr>
              <a:buSzPts val="1800"/>
              <a:buFont typeface="Lato"/>
              <a:buChar char="●"/>
            </a:pPr>
            <a:r>
              <a:rPr b="1" lang="en" sz="1800">
                <a:solidFill>
                  <a:schemeClr val="dk1"/>
                </a:solidFill>
                <a:latin typeface="Lato"/>
                <a:ea typeface="Lato"/>
                <a:cs typeface="Lato"/>
                <a:sym typeface="Lato"/>
              </a:rPr>
              <a:t>STLF uses:</a:t>
            </a:r>
            <a:endParaRPr b="1"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Generation scheduling of power system</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Optimizing operation of power plants</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Reliability of power system</a:t>
            </a:r>
            <a:endParaRPr sz="1800">
              <a:solidFill>
                <a:schemeClr val="dk1"/>
              </a:solidFill>
              <a:latin typeface="Lato"/>
              <a:ea typeface="Lato"/>
              <a:cs typeface="Lato"/>
              <a:sym typeface="Lato"/>
            </a:endParaRPr>
          </a:p>
          <a:p>
            <a:pPr indent="0" lvl="0" marL="0" rtl="0" algn="l">
              <a:spcBef>
                <a:spcPts val="16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dk1"/>
                </a:solidFill>
                <a:latin typeface="Lato"/>
                <a:ea typeface="Lato"/>
                <a:cs typeface="Lato"/>
                <a:sym typeface="Lato"/>
              </a:rPr>
              <a:t>Predict Short-Term Residential Electricity Load </a:t>
            </a:r>
            <a:endParaRPr b="1" sz="1800">
              <a:solidFill>
                <a:schemeClr val="dk1"/>
              </a:solidFill>
              <a:latin typeface="Lato"/>
              <a:ea typeface="Lato"/>
              <a:cs typeface="Lato"/>
              <a:sym typeface="Lato"/>
            </a:endParaRPr>
          </a:p>
          <a:p>
            <a:pPr indent="-342900" lvl="0" marL="457200" rtl="0" algn="l">
              <a:lnSpc>
                <a:spcPct val="115000"/>
              </a:lnSpc>
              <a:spcBef>
                <a:spcPts val="1600"/>
              </a:spcBef>
              <a:spcAft>
                <a:spcPts val="0"/>
              </a:spcAft>
              <a:buClr>
                <a:schemeClr val="dk1"/>
              </a:buClr>
              <a:buSzPts val="1800"/>
              <a:buFont typeface="Lato"/>
              <a:buChar char="●"/>
            </a:pPr>
            <a:r>
              <a:rPr b="1" lang="en" sz="1800">
                <a:solidFill>
                  <a:schemeClr val="dk1"/>
                </a:solidFill>
                <a:latin typeface="Lato"/>
                <a:ea typeface="Lato"/>
                <a:cs typeface="Lato"/>
                <a:sym typeface="Lato"/>
              </a:rPr>
              <a:t>Challenges</a:t>
            </a:r>
            <a:endParaRPr b="1"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Weather</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Demand Peaks</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Individual User Behavior</a:t>
            </a:r>
            <a:endParaRPr sz="1800">
              <a:solidFill>
                <a:schemeClr val="dk1"/>
              </a:solidFill>
              <a:latin typeface="Lato"/>
              <a:ea typeface="Lato"/>
              <a:cs typeface="Lato"/>
              <a:sym typeface="Lato"/>
            </a:endParaRPr>
          </a:p>
          <a:p>
            <a:pPr indent="-342900" lvl="0" marL="457200" rtl="0" algn="l">
              <a:lnSpc>
                <a:spcPct val="115000"/>
              </a:lnSpc>
              <a:spcBef>
                <a:spcPts val="0"/>
              </a:spcBef>
              <a:spcAft>
                <a:spcPts val="0"/>
              </a:spcAft>
              <a:buClr>
                <a:schemeClr val="dk1"/>
              </a:buClr>
              <a:buSzPts val="1800"/>
              <a:buFont typeface="Lato"/>
              <a:buChar char="●"/>
            </a:pPr>
            <a:r>
              <a:rPr b="1" lang="en" sz="1800">
                <a:solidFill>
                  <a:schemeClr val="dk1"/>
                </a:solidFill>
                <a:latin typeface="Lato"/>
                <a:ea typeface="Lato"/>
                <a:cs typeface="Lato"/>
                <a:sym typeface="Lato"/>
              </a:rPr>
              <a:t>Opportunities</a:t>
            </a:r>
            <a:endParaRPr b="1"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Demand Response</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Resource Allocation</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Environmental Impact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a265a8ac4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a265a8ac4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dk1"/>
                </a:solidFill>
                <a:latin typeface="Lato"/>
                <a:ea typeface="Lato"/>
                <a:cs typeface="Lato"/>
                <a:sym typeface="Lato"/>
              </a:rPr>
              <a:t>Predict Short-Term Residential Electricity Load </a:t>
            </a:r>
            <a:endParaRPr b="1" sz="1800">
              <a:solidFill>
                <a:schemeClr val="dk1"/>
              </a:solidFill>
              <a:latin typeface="Lato"/>
              <a:ea typeface="Lato"/>
              <a:cs typeface="Lato"/>
              <a:sym typeface="Lato"/>
            </a:endParaRPr>
          </a:p>
          <a:p>
            <a:pPr indent="-342900" lvl="0" marL="457200" rtl="0" algn="l">
              <a:lnSpc>
                <a:spcPct val="115000"/>
              </a:lnSpc>
              <a:spcBef>
                <a:spcPts val="1600"/>
              </a:spcBef>
              <a:spcAft>
                <a:spcPts val="0"/>
              </a:spcAft>
              <a:buClr>
                <a:schemeClr val="dk1"/>
              </a:buClr>
              <a:buSzPts val="1800"/>
              <a:buFont typeface="Lato"/>
              <a:buChar char="●"/>
            </a:pPr>
            <a:r>
              <a:rPr b="1" lang="en" sz="1800">
                <a:solidFill>
                  <a:schemeClr val="dk1"/>
                </a:solidFill>
                <a:latin typeface="Lato"/>
                <a:ea typeface="Lato"/>
                <a:cs typeface="Lato"/>
                <a:sym typeface="Lato"/>
              </a:rPr>
              <a:t>Challenges</a:t>
            </a:r>
            <a:endParaRPr b="1"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Weather</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Demand Peaks</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Individual User Behavior</a:t>
            </a:r>
            <a:endParaRPr sz="1800">
              <a:solidFill>
                <a:schemeClr val="dk1"/>
              </a:solidFill>
              <a:latin typeface="Lato"/>
              <a:ea typeface="Lato"/>
              <a:cs typeface="Lato"/>
              <a:sym typeface="Lato"/>
            </a:endParaRPr>
          </a:p>
          <a:p>
            <a:pPr indent="-342900" lvl="0" marL="457200" rtl="0" algn="l">
              <a:lnSpc>
                <a:spcPct val="115000"/>
              </a:lnSpc>
              <a:spcBef>
                <a:spcPts val="0"/>
              </a:spcBef>
              <a:spcAft>
                <a:spcPts val="0"/>
              </a:spcAft>
              <a:buClr>
                <a:schemeClr val="dk1"/>
              </a:buClr>
              <a:buSzPts val="1800"/>
              <a:buFont typeface="Lato"/>
              <a:buChar char="●"/>
            </a:pPr>
            <a:r>
              <a:rPr b="1" lang="en" sz="1800">
                <a:solidFill>
                  <a:schemeClr val="dk1"/>
                </a:solidFill>
                <a:latin typeface="Lato"/>
                <a:ea typeface="Lato"/>
                <a:cs typeface="Lato"/>
                <a:sym typeface="Lato"/>
              </a:rPr>
              <a:t>Opportunities</a:t>
            </a:r>
            <a:endParaRPr b="1"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Demand Response</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Resource Allocation</a:t>
            </a: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Environmental Impact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a265a8ac4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a265a8ac4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Each dataset was collected by the Kaggle user who posted this dataset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About each dataset: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London Weather Data: Collected from Darksky API, a weather api, during the times the energy consumption dataset was collect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ACORN classification details: Acorns are ‘geodemographic segmentations’, it splits up the UK into different segments and provided demographic information on each segment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Energy Consumption Readings: These are from a project done by the UK Power Networks. It consists of energy consumption every half hour from 5,567 London households over the course of a little over two years.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8024e5e34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8024e5e34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dk1"/>
                </a:solidFill>
                <a:latin typeface="Lato"/>
                <a:ea typeface="Lato"/>
                <a:cs typeface="Lato"/>
                <a:sym typeface="Lato"/>
              </a:rPr>
              <a:t>Old Model &amp; Old Domain</a:t>
            </a:r>
            <a:endParaRPr b="1" sz="1800">
              <a:solidFill>
                <a:schemeClr val="dk1"/>
              </a:solidFill>
              <a:latin typeface="Lato"/>
              <a:ea typeface="Lato"/>
              <a:cs typeface="Lato"/>
              <a:sym typeface="Lato"/>
            </a:endParaRPr>
          </a:p>
          <a:p>
            <a:pPr indent="-342900" lvl="0" marL="457200" rtl="0" algn="l">
              <a:lnSpc>
                <a:spcPct val="115000"/>
              </a:lnSpc>
              <a:spcBef>
                <a:spcPts val="1600"/>
              </a:spcBef>
              <a:spcAft>
                <a:spcPts val="0"/>
              </a:spcAft>
              <a:buClr>
                <a:schemeClr val="dk1"/>
              </a:buClr>
              <a:buSzPts val="1800"/>
              <a:buFont typeface="Lato"/>
              <a:buChar char="●"/>
            </a:pPr>
            <a:r>
              <a:rPr lang="en" sz="1800">
                <a:solidFill>
                  <a:schemeClr val="dk1"/>
                </a:solidFill>
                <a:latin typeface="Lato"/>
                <a:ea typeface="Lato"/>
                <a:cs typeface="Lato"/>
                <a:sym typeface="Lato"/>
              </a:rPr>
              <a:t>LSTM</a:t>
            </a:r>
            <a:endParaRPr sz="1800">
              <a:solidFill>
                <a:schemeClr val="dk1"/>
              </a:solidFill>
              <a:latin typeface="Lato"/>
              <a:ea typeface="Lato"/>
              <a:cs typeface="Lato"/>
              <a:sym typeface="Lato"/>
            </a:endParaRPr>
          </a:p>
          <a:p>
            <a:pPr indent="-342900" lvl="0" marL="4572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SimpleRNN</a:t>
            </a:r>
            <a:endParaRPr b="1" sz="1800">
              <a:solidFill>
                <a:schemeClr val="dk1"/>
              </a:solidFill>
              <a:latin typeface="Lato"/>
              <a:ea typeface="Lato"/>
              <a:cs typeface="Lato"/>
              <a:sym typeface="Lato"/>
            </a:endParaRPr>
          </a:p>
          <a:p>
            <a:pPr indent="0" lvl="0" marL="0" rtl="0" algn="l">
              <a:lnSpc>
                <a:spcPct val="115000"/>
              </a:lnSpc>
              <a:spcBef>
                <a:spcPts val="1600"/>
              </a:spcBef>
              <a:spcAft>
                <a:spcPts val="0"/>
              </a:spcAft>
              <a:buClr>
                <a:schemeClr val="dk1"/>
              </a:buClr>
              <a:buSzPts val="1100"/>
              <a:buFont typeface="Arial"/>
              <a:buNone/>
            </a:pPr>
            <a:r>
              <a:rPr b="1" lang="en" sz="1800">
                <a:solidFill>
                  <a:schemeClr val="dk1"/>
                </a:solidFill>
                <a:latin typeface="Lato"/>
                <a:ea typeface="Lato"/>
                <a:cs typeface="Lato"/>
                <a:sym typeface="Lato"/>
              </a:rPr>
              <a:t>Old Model &amp; New Domain</a:t>
            </a:r>
            <a:endParaRPr b="1" sz="1800">
              <a:solidFill>
                <a:schemeClr val="dk1"/>
              </a:solidFill>
              <a:latin typeface="Lato"/>
              <a:ea typeface="Lato"/>
              <a:cs typeface="Lato"/>
              <a:sym typeface="Lato"/>
            </a:endParaRPr>
          </a:p>
          <a:p>
            <a:pPr indent="-342900" lvl="0" marL="457200" rtl="0" algn="l">
              <a:lnSpc>
                <a:spcPct val="115000"/>
              </a:lnSpc>
              <a:spcBef>
                <a:spcPts val="1600"/>
              </a:spcBef>
              <a:spcAft>
                <a:spcPts val="0"/>
              </a:spcAft>
              <a:buClr>
                <a:schemeClr val="dk1"/>
              </a:buClr>
              <a:buSzPts val="1800"/>
              <a:buFont typeface="Lato"/>
              <a:buChar char="●"/>
            </a:pPr>
            <a:r>
              <a:rPr lang="en" sz="1800">
                <a:solidFill>
                  <a:schemeClr val="dk1"/>
                </a:solidFill>
                <a:latin typeface="Lato"/>
                <a:ea typeface="Lato"/>
                <a:cs typeface="Lato"/>
                <a:sym typeface="Lato"/>
              </a:rPr>
              <a:t>Mogrifier LSTM</a:t>
            </a:r>
            <a:endParaRPr sz="1800">
              <a:solidFill>
                <a:schemeClr val="dk1"/>
              </a:solidFill>
              <a:latin typeface="Lato"/>
              <a:ea typeface="Lato"/>
              <a:cs typeface="Lato"/>
              <a:sym typeface="Lato"/>
            </a:endParaRPr>
          </a:p>
          <a:p>
            <a:pPr indent="-342900" lvl="0" marL="4572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MomentumRNN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8024e5e34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8024e5e34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8024e5e34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8024e5e34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400" u="sng">
                <a:solidFill>
                  <a:srgbClr val="0277BD"/>
                </a:solidFill>
                <a:hlinkClick r:id="rId2">
                  <a:extLst>
                    <a:ext uri="{A12FA001-AC4F-418D-AE19-62706E023703}">
                      <ahyp:hlinkClr val="tx"/>
                    </a:ext>
                  </a:extLst>
                </a:hlinkClick>
              </a:rPr>
              <a:t>Hochreiter, Sepp &amp; Schmidhuber, Jürgen. (1997). Long Short-term Memory. Neural computation. 9. 1735-80. 10.1162/neco.1997.9.8.1735.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8024e5e34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8024e5e34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a265a8ac4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a265a8ac4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8024e5e34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8024e5e34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400" u="sng">
                <a:solidFill>
                  <a:srgbClr val="0277BD"/>
                </a:solidFill>
                <a:hlinkClick r:id="rId2">
                  <a:extLst>
                    <a:ext uri="{A12FA001-AC4F-418D-AE19-62706E023703}">
                      <ahyp:hlinkClr val="tx"/>
                    </a:ext>
                  </a:extLst>
                </a:hlinkClick>
              </a:rPr>
              <a:t>Melis, Gábor &amp; Kočiský, Tomáš &amp; Blunsom, Phil. (2019). Mogrifier LSTM </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a265a8ac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a265a8ac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400" u="sng">
                <a:solidFill>
                  <a:srgbClr val="0277BD"/>
                </a:solidFill>
                <a:hlinkClick r:id="rId2">
                  <a:extLst>
                    <a:ext uri="{A12FA001-AC4F-418D-AE19-62706E023703}">
                      <ahyp:hlinkClr val="tx"/>
                    </a:ext>
                  </a:extLst>
                </a:hlinkClick>
              </a:rPr>
              <a:t>Melis, Gábor &amp; Kočiský, Tomáš &amp; Blunsom, Phil. (2019). Mogrifier LSTM </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a265a8ac47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a265a8ac47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Each dataset was collected by the Kaggle user who posted this dataset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About each dataset: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London Weather Data: Collected from Darksky API, a weather api, during the times the energy consumption dataset was collect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ACORN classification details: Acorns are ‘geodemographic segmentations’, it splits up the UK into different segments and provided demographic information on each segment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Energy Consumption Readings: These are from a project done by the UK Power Networks. It consists of energy consumption every half hour from 5,567 London households over the course of a little over two years.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8024e5e34f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8024e5e34f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dk1"/>
                </a:solidFill>
                <a:latin typeface="Lato"/>
                <a:ea typeface="Lato"/>
                <a:cs typeface="Lato"/>
                <a:sym typeface="Lato"/>
              </a:rPr>
              <a:t>Contributions to Research</a:t>
            </a:r>
            <a:endParaRPr b="1" sz="1800">
              <a:solidFill>
                <a:schemeClr val="dk1"/>
              </a:solidFill>
              <a:latin typeface="Lato"/>
              <a:ea typeface="Lato"/>
              <a:cs typeface="Lato"/>
              <a:sym typeface="Lato"/>
            </a:endParaRPr>
          </a:p>
          <a:p>
            <a:pPr indent="-342900" lvl="0" marL="457200" rtl="0" algn="l">
              <a:lnSpc>
                <a:spcPct val="115000"/>
              </a:lnSpc>
              <a:spcBef>
                <a:spcPts val="1600"/>
              </a:spcBef>
              <a:spcAft>
                <a:spcPts val="0"/>
              </a:spcAft>
              <a:buClr>
                <a:schemeClr val="dk1"/>
              </a:buClr>
              <a:buSzPts val="1800"/>
              <a:buFont typeface="Lato"/>
              <a:buChar char="●"/>
            </a:pPr>
            <a:r>
              <a:rPr lang="en" sz="1800">
                <a:solidFill>
                  <a:schemeClr val="dk1"/>
                </a:solidFill>
                <a:latin typeface="Lato"/>
                <a:ea typeface="Lato"/>
                <a:cs typeface="Lato"/>
                <a:sym typeface="Lato"/>
              </a:rPr>
              <a:t>Data analysis and exploration from dataset</a:t>
            </a:r>
            <a:endParaRPr sz="1800">
              <a:solidFill>
                <a:schemeClr val="dk1"/>
              </a:solidFill>
              <a:latin typeface="Lato"/>
              <a:ea typeface="Lato"/>
              <a:cs typeface="Lato"/>
              <a:sym typeface="Lato"/>
            </a:endParaRPr>
          </a:p>
          <a:p>
            <a:pPr indent="-342900" lvl="0" marL="4572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Predict residential load using MomentumRNN and Mogrifier LSTM</a:t>
            </a:r>
            <a:endParaRPr sz="1800">
              <a:solidFill>
                <a:schemeClr val="dk1"/>
              </a:solidFill>
              <a:latin typeface="Lato"/>
              <a:ea typeface="Lato"/>
              <a:cs typeface="Lato"/>
              <a:sym typeface="Lato"/>
            </a:endParaRPr>
          </a:p>
          <a:p>
            <a:pPr indent="-342900" lvl="0" marL="457200" rtl="0" algn="l">
              <a:lnSpc>
                <a:spcPct val="115000"/>
              </a:lnSpc>
              <a:spcBef>
                <a:spcPts val="0"/>
              </a:spcBef>
              <a:spcAft>
                <a:spcPts val="0"/>
              </a:spcAft>
              <a:buClr>
                <a:schemeClr val="dk1"/>
              </a:buClr>
              <a:buSzPts val="1800"/>
              <a:buFont typeface="Lato"/>
              <a:buChar char="●"/>
            </a:pPr>
            <a:r>
              <a:rPr lang="en" sz="1800">
                <a:solidFill>
                  <a:schemeClr val="dk1"/>
                </a:solidFill>
                <a:latin typeface="Lato"/>
                <a:ea typeface="Lato"/>
                <a:cs typeface="Lato"/>
                <a:sym typeface="Lato"/>
              </a:rPr>
              <a:t>Compare results of Models on previously studied models in domain</a:t>
            </a:r>
            <a:endParaRPr sz="1800">
              <a:solidFill>
                <a:schemeClr val="dk1"/>
              </a:solidFill>
              <a:latin typeface="Lato"/>
              <a:ea typeface="Lato"/>
              <a:cs typeface="Lato"/>
              <a:sym typeface="Lato"/>
            </a:endParaRPr>
          </a:p>
          <a:p>
            <a:pPr indent="0" lvl="0" marL="0" rtl="0" algn="l">
              <a:spcBef>
                <a:spcPts val="16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a265a8ac47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a265a8ac47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Each dataset was collected by the Kaggle user who posted this dataset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About each dataset: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London Weather Data: Collected from Darksky API, a weather api, during the times the energy consumption dataset was collect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ACORN classification details: Acorns are ‘geodemographic segmentations’, it splits up the UK into different segments and provided demographic information on each segment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Energy Consumption Readings: These are from a project done by the UK Power Networks. It consists of energy consumption every half hour from 5,567 London households over the course of a little over two years.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807aac26f9_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807aac26f9_2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914400" rtl="0" algn="l">
              <a:lnSpc>
                <a:spcPct val="150000"/>
              </a:lnSpc>
              <a:spcBef>
                <a:spcPts val="0"/>
              </a:spcBef>
              <a:spcAft>
                <a:spcPts val="160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807aac26f9_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807aac26f9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comments" Target="../comments/commen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s://direct.mit.edu/neco/article-abstract/9/8/1735/6109/Long-Short-Term-Memory?redirectedFrom=fulltex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s://arxiv.org/abs/2006.0691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hyperlink" Target="https://arxiv.org/abs/1909.0179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8.png"/><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900"/>
          </a:p>
          <a:p>
            <a:pPr indent="0" lvl="0" marL="0" rtl="0" algn="l">
              <a:spcBef>
                <a:spcPts val="0"/>
              </a:spcBef>
              <a:spcAft>
                <a:spcPts val="0"/>
              </a:spcAft>
              <a:buNone/>
            </a:pPr>
            <a:r>
              <a:rPr lang="en" sz="2900"/>
              <a:t>Predicting Short-Term Residential Electricity Load</a:t>
            </a:r>
            <a:endParaRPr sz="2900"/>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By: Steve Burgos, Kishore Prakasen, Ivan Macsemchuck, Jason Kluge</a:t>
            </a:r>
            <a:endParaRPr sz="2400"/>
          </a:p>
          <a:p>
            <a:pPr indent="0" lvl="0" marL="0" rtl="0" algn="l">
              <a:spcBef>
                <a:spcPts val="0"/>
              </a:spcBef>
              <a:spcAft>
                <a:spcPts val="0"/>
              </a:spcAft>
              <a:buNone/>
            </a:pPr>
            <a:r>
              <a:t/>
            </a:r>
            <a:endParaRPr sz="2400"/>
          </a:p>
        </p:txBody>
      </p:sp>
      <p:sp>
        <p:nvSpPr>
          <p:cNvPr id="74" name="Google Shape;74;p13"/>
          <p:cNvSpPr txBox="1"/>
          <p:nvPr/>
        </p:nvSpPr>
        <p:spPr>
          <a:xfrm>
            <a:off x="279700" y="309950"/>
            <a:ext cx="718200" cy="612300"/>
          </a:xfrm>
          <a:prstGeom prst="rect">
            <a:avLst/>
          </a:prstGeom>
          <a:solidFill>
            <a:schemeClr val="dk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 name="Shape 78"/>
        <p:cNvGrpSpPr/>
        <p:nvPr/>
      </p:nvGrpSpPr>
      <p:grpSpPr>
        <a:xfrm>
          <a:off x="0" y="0"/>
          <a:ext cx="0" cy="0"/>
          <a:chOff x="0" y="0"/>
          <a:chExt cx="0" cy="0"/>
        </a:xfrm>
      </p:grpSpPr>
      <p:pic>
        <p:nvPicPr>
          <p:cNvPr id="79" name="Google Shape;79;p14"/>
          <p:cNvPicPr preferRelativeResize="0"/>
          <p:nvPr/>
        </p:nvPicPr>
        <p:blipFill>
          <a:blip r:embed="rId3">
            <a:alphaModFix/>
          </a:blip>
          <a:stretch>
            <a:fillRect/>
          </a:stretch>
        </p:blipFill>
        <p:spPr>
          <a:xfrm>
            <a:off x="2444700" y="162737"/>
            <a:ext cx="4254600" cy="4818038"/>
          </a:xfrm>
          <a:prstGeom prst="rect">
            <a:avLst/>
          </a:prstGeom>
          <a:noFill/>
          <a:ln>
            <a:noFill/>
          </a:ln>
        </p:spPr>
      </p:pic>
      <p:sp>
        <p:nvSpPr>
          <p:cNvPr id="80" name="Google Shape;80;p14"/>
          <p:cNvSpPr txBox="1"/>
          <p:nvPr/>
        </p:nvSpPr>
        <p:spPr>
          <a:xfrm>
            <a:off x="2665050" y="3444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Content</a:t>
            </a:r>
            <a:endParaRPr b="1" sz="3000">
              <a:solidFill>
                <a:schemeClr val="lt2"/>
              </a:solidFill>
              <a:latin typeface="Raleway"/>
              <a:ea typeface="Raleway"/>
              <a:cs typeface="Raleway"/>
              <a:sym typeface="Raleway"/>
            </a:endParaRPr>
          </a:p>
        </p:txBody>
      </p:sp>
      <p:sp>
        <p:nvSpPr>
          <p:cNvPr id="81" name="Google Shape;81;p14"/>
          <p:cNvSpPr txBox="1"/>
          <p:nvPr>
            <p:ph idx="4294967295" type="body"/>
          </p:nvPr>
        </p:nvSpPr>
        <p:spPr>
          <a:xfrm>
            <a:off x="2855550" y="1043600"/>
            <a:ext cx="3432900" cy="35982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Raleway"/>
              <a:buChar char="➔"/>
            </a:pPr>
            <a:r>
              <a:rPr b="1" lang="en" sz="1000">
                <a:solidFill>
                  <a:schemeClr val="dk1"/>
                </a:solidFill>
                <a:latin typeface="Raleway"/>
                <a:ea typeface="Raleway"/>
                <a:cs typeface="Raleway"/>
                <a:sym typeface="Raleway"/>
              </a:rPr>
              <a:t>Introduction</a:t>
            </a:r>
            <a:endParaRPr sz="1000">
              <a:solidFill>
                <a:schemeClr val="dk2"/>
              </a:solidFill>
              <a:latin typeface="Raleway"/>
              <a:ea typeface="Raleway"/>
              <a:cs typeface="Raleway"/>
              <a:sym typeface="Raleway"/>
            </a:endParaRPr>
          </a:p>
          <a:p>
            <a:pPr indent="-292100" lvl="0" marL="457200" rtl="0" algn="l">
              <a:spcBef>
                <a:spcPts val="1000"/>
              </a:spcBef>
              <a:spcAft>
                <a:spcPts val="0"/>
              </a:spcAft>
              <a:buClr>
                <a:schemeClr val="dk1"/>
              </a:buClr>
              <a:buSzPts val="1000"/>
              <a:buFont typeface="Raleway"/>
              <a:buChar char="➔"/>
            </a:pPr>
            <a:r>
              <a:rPr b="1" lang="en" sz="1000">
                <a:solidFill>
                  <a:schemeClr val="dk1"/>
                </a:solidFill>
                <a:latin typeface="Raleway"/>
                <a:ea typeface="Raleway"/>
                <a:cs typeface="Raleway"/>
                <a:sym typeface="Raleway"/>
              </a:rPr>
              <a:t>Research Problem</a:t>
            </a:r>
            <a:endParaRPr sz="1000">
              <a:latin typeface="Raleway"/>
              <a:ea typeface="Raleway"/>
              <a:cs typeface="Raleway"/>
              <a:sym typeface="Raleway"/>
            </a:endParaRPr>
          </a:p>
          <a:p>
            <a:pPr indent="-292100" lvl="0" marL="457200" rtl="0" algn="l">
              <a:spcBef>
                <a:spcPts val="1000"/>
              </a:spcBef>
              <a:spcAft>
                <a:spcPts val="0"/>
              </a:spcAft>
              <a:buClr>
                <a:schemeClr val="dk1"/>
              </a:buClr>
              <a:buSzPts val="1000"/>
              <a:buFont typeface="Raleway"/>
              <a:buChar char="➔"/>
            </a:pPr>
            <a:r>
              <a:rPr b="1" lang="en" sz="1000">
                <a:solidFill>
                  <a:schemeClr val="dk1"/>
                </a:solidFill>
                <a:latin typeface="Raleway"/>
                <a:ea typeface="Raleway"/>
                <a:cs typeface="Raleway"/>
                <a:sym typeface="Raleway"/>
              </a:rPr>
              <a:t>Dataset </a:t>
            </a:r>
            <a:endParaRPr b="1" sz="1000">
              <a:solidFill>
                <a:schemeClr val="dk1"/>
              </a:solidFill>
              <a:latin typeface="Raleway"/>
              <a:ea typeface="Raleway"/>
              <a:cs typeface="Raleway"/>
              <a:sym typeface="Raleway"/>
            </a:endParaRPr>
          </a:p>
          <a:p>
            <a:pPr indent="-292100" lvl="0" marL="457200" rtl="0" algn="l">
              <a:spcBef>
                <a:spcPts val="1000"/>
              </a:spcBef>
              <a:spcAft>
                <a:spcPts val="0"/>
              </a:spcAft>
              <a:buClr>
                <a:schemeClr val="dk1"/>
              </a:buClr>
              <a:buSzPts val="1000"/>
              <a:buFont typeface="Raleway"/>
              <a:buChar char="➔"/>
            </a:pPr>
            <a:r>
              <a:rPr b="1" lang="en" sz="1000">
                <a:solidFill>
                  <a:schemeClr val="dk1"/>
                </a:solidFill>
                <a:latin typeface="Raleway"/>
                <a:ea typeface="Raleway"/>
                <a:cs typeface="Raleway"/>
                <a:sym typeface="Raleway"/>
              </a:rPr>
              <a:t>Models</a:t>
            </a:r>
            <a:endParaRPr b="1" sz="1000">
              <a:solidFill>
                <a:schemeClr val="dk1"/>
              </a:solidFill>
              <a:latin typeface="Raleway"/>
              <a:ea typeface="Raleway"/>
              <a:cs typeface="Raleway"/>
              <a:sym typeface="Raleway"/>
            </a:endParaRPr>
          </a:p>
          <a:p>
            <a:pPr indent="-292100" lvl="0" marL="457200" rtl="0" algn="l">
              <a:spcBef>
                <a:spcPts val="1000"/>
              </a:spcBef>
              <a:spcAft>
                <a:spcPts val="0"/>
              </a:spcAft>
              <a:buClr>
                <a:schemeClr val="dk1"/>
              </a:buClr>
              <a:buSzPts val="1000"/>
              <a:buFont typeface="Raleway"/>
              <a:buChar char="➔"/>
            </a:pPr>
            <a:r>
              <a:rPr b="1" lang="en" sz="1000">
                <a:solidFill>
                  <a:schemeClr val="dk1"/>
                </a:solidFill>
                <a:latin typeface="Raleway"/>
                <a:ea typeface="Raleway"/>
                <a:cs typeface="Raleway"/>
                <a:sym typeface="Raleway"/>
              </a:rPr>
              <a:t>Technology</a:t>
            </a:r>
            <a:endParaRPr b="1" sz="1000">
              <a:solidFill>
                <a:schemeClr val="dk1"/>
              </a:solidFill>
              <a:latin typeface="Raleway"/>
              <a:ea typeface="Raleway"/>
              <a:cs typeface="Raleway"/>
              <a:sym typeface="Raleway"/>
            </a:endParaRPr>
          </a:p>
          <a:p>
            <a:pPr indent="-292100" lvl="0" marL="457200" rtl="0" algn="l">
              <a:spcBef>
                <a:spcPts val="1000"/>
              </a:spcBef>
              <a:spcAft>
                <a:spcPts val="0"/>
              </a:spcAft>
              <a:buClr>
                <a:schemeClr val="dk1"/>
              </a:buClr>
              <a:buSzPts val="1000"/>
              <a:buFont typeface="Raleway"/>
              <a:buChar char="➔"/>
            </a:pPr>
            <a:r>
              <a:rPr b="1" lang="en" sz="1000">
                <a:solidFill>
                  <a:schemeClr val="dk1"/>
                </a:solidFill>
                <a:latin typeface="Raleway"/>
                <a:ea typeface="Raleway"/>
                <a:cs typeface="Raleway"/>
                <a:sym typeface="Raleway"/>
              </a:rPr>
              <a:t>Results</a:t>
            </a:r>
            <a:endParaRPr b="1" sz="1000">
              <a:solidFill>
                <a:schemeClr val="dk1"/>
              </a:solidFill>
              <a:latin typeface="Raleway"/>
              <a:ea typeface="Raleway"/>
              <a:cs typeface="Raleway"/>
              <a:sym typeface="Raleway"/>
            </a:endParaRPr>
          </a:p>
          <a:p>
            <a:pPr indent="-279400" lvl="0" marL="457200" rtl="0" algn="l">
              <a:spcBef>
                <a:spcPts val="1000"/>
              </a:spcBef>
              <a:spcAft>
                <a:spcPts val="0"/>
              </a:spcAft>
              <a:buClr>
                <a:schemeClr val="dk1"/>
              </a:buClr>
              <a:buSzPts val="800"/>
              <a:buFont typeface="Raleway"/>
              <a:buChar char="➔"/>
            </a:pPr>
            <a:r>
              <a:rPr b="1" lang="en" sz="1000">
                <a:solidFill>
                  <a:schemeClr val="dk1"/>
                </a:solidFill>
                <a:latin typeface="Raleway"/>
                <a:ea typeface="Raleway"/>
                <a:cs typeface="Raleway"/>
                <a:sym typeface="Raleway"/>
              </a:rPr>
              <a:t>Task Allocation</a:t>
            </a:r>
            <a:endParaRPr b="1" sz="1000">
              <a:solidFill>
                <a:schemeClr val="dk1"/>
              </a:solidFill>
              <a:latin typeface="Raleway"/>
              <a:ea typeface="Raleway"/>
              <a:cs typeface="Raleway"/>
              <a:sym typeface="Raleway"/>
            </a:endParaRPr>
          </a:p>
          <a:p>
            <a:pPr indent="-279400" lvl="0" marL="457200" rtl="0" algn="l">
              <a:spcBef>
                <a:spcPts val="1000"/>
              </a:spcBef>
              <a:spcAft>
                <a:spcPts val="0"/>
              </a:spcAft>
              <a:buClr>
                <a:schemeClr val="dk1"/>
              </a:buClr>
              <a:buSzPts val="800"/>
              <a:buFont typeface="Raleway"/>
              <a:buChar char="➔"/>
            </a:pPr>
            <a:r>
              <a:rPr b="1" lang="en" sz="1000">
                <a:solidFill>
                  <a:schemeClr val="dk1"/>
                </a:solidFill>
                <a:latin typeface="Raleway"/>
                <a:ea typeface="Raleway"/>
                <a:cs typeface="Raleway"/>
                <a:sym typeface="Raleway"/>
              </a:rPr>
              <a:t>Discussion</a:t>
            </a:r>
            <a:endParaRPr b="1" sz="1000">
              <a:solidFill>
                <a:schemeClr val="dk1"/>
              </a:solidFill>
              <a:latin typeface="Raleway"/>
              <a:ea typeface="Raleway"/>
              <a:cs typeface="Raleway"/>
              <a:sym typeface="Raleway"/>
            </a:endParaRPr>
          </a:p>
          <a:p>
            <a:pPr indent="-292100" lvl="0" marL="457200" rtl="0" algn="l">
              <a:spcBef>
                <a:spcPts val="1000"/>
              </a:spcBef>
              <a:spcAft>
                <a:spcPts val="1000"/>
              </a:spcAft>
              <a:buClr>
                <a:schemeClr val="dk1"/>
              </a:buClr>
              <a:buSzPts val="1000"/>
              <a:buFont typeface="Raleway"/>
              <a:buChar char="➔"/>
            </a:pPr>
            <a:r>
              <a:rPr b="1" lang="en" sz="1000">
                <a:solidFill>
                  <a:schemeClr val="dk1"/>
                </a:solidFill>
                <a:latin typeface="Raleway"/>
                <a:ea typeface="Raleway"/>
                <a:cs typeface="Raleway"/>
                <a:sym typeface="Raleway"/>
              </a:rPr>
              <a:t>QA</a:t>
            </a:r>
            <a:endParaRPr b="1" sz="1000">
              <a:solidFill>
                <a:schemeClr val="dk1"/>
              </a:solidFill>
              <a:latin typeface="Raleway"/>
              <a:ea typeface="Raleway"/>
              <a:cs typeface="Raleway"/>
              <a:sym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Introduction</a:t>
            </a:r>
            <a:endParaRPr sz="2400"/>
          </a:p>
        </p:txBody>
      </p:sp>
      <p:sp>
        <p:nvSpPr>
          <p:cNvPr id="87" name="Google Shape;87;p15"/>
          <p:cNvSpPr txBox="1"/>
          <p:nvPr>
            <p:ph idx="4294967295" type="title"/>
          </p:nvPr>
        </p:nvSpPr>
        <p:spPr>
          <a:xfrm>
            <a:off x="535775" y="1480150"/>
            <a:ext cx="7978500" cy="3067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Advance Metering Infrastructure (AMI) </a:t>
            </a:r>
            <a:r>
              <a:rPr b="0" lang="en" sz="1800">
                <a:latin typeface="Lato"/>
                <a:ea typeface="Lato"/>
                <a:cs typeface="Lato"/>
                <a:sym typeface="Lato"/>
              </a:rPr>
              <a:t> used to collect continuous information about utilities</a:t>
            </a:r>
            <a:endParaRPr b="0" sz="1800">
              <a:latin typeface="Lato"/>
              <a:ea typeface="Lato"/>
              <a:cs typeface="Lato"/>
              <a:sym typeface="Lato"/>
            </a:endParaRPr>
          </a:p>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Short-term load </a:t>
            </a:r>
            <a:r>
              <a:rPr lang="en" sz="1800">
                <a:latin typeface="Lato"/>
                <a:ea typeface="Lato"/>
                <a:cs typeface="Lato"/>
                <a:sym typeface="Lato"/>
              </a:rPr>
              <a:t>forecasting</a:t>
            </a:r>
            <a:r>
              <a:rPr lang="en" sz="1800">
                <a:latin typeface="Lato"/>
                <a:ea typeface="Lato"/>
                <a:cs typeface="Lato"/>
                <a:sym typeface="Lato"/>
              </a:rPr>
              <a:t> (STLF)</a:t>
            </a:r>
            <a:r>
              <a:rPr b="0" lang="en" sz="1800">
                <a:latin typeface="Lato"/>
                <a:ea typeface="Lato"/>
                <a:cs typeface="Lato"/>
                <a:sym typeface="Lato"/>
              </a:rPr>
              <a:t> predicts electrical usage 1 day to a week in advance</a:t>
            </a:r>
            <a:endParaRPr b="0" sz="1800">
              <a:latin typeface="Lato"/>
              <a:ea typeface="Lato"/>
              <a:cs typeface="Lato"/>
              <a:sym typeface="Lato"/>
            </a:endParaRPr>
          </a:p>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STLF uses:</a:t>
            </a:r>
            <a:endParaRPr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Generation scheduling of power system</a:t>
            </a:r>
            <a:endParaRPr b="0"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Optimizing</a:t>
            </a:r>
            <a:r>
              <a:rPr b="0" lang="en" sz="1800">
                <a:latin typeface="Lato"/>
                <a:ea typeface="Lato"/>
                <a:cs typeface="Lato"/>
                <a:sym typeface="Lato"/>
              </a:rPr>
              <a:t> operation of power plants</a:t>
            </a:r>
            <a:endParaRPr b="0"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Reliability of power system</a:t>
            </a:r>
            <a:endParaRPr b="0" sz="1800">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 name="Shape 91"/>
        <p:cNvGrpSpPr/>
        <p:nvPr/>
      </p:nvGrpSpPr>
      <p:grpSpPr>
        <a:xfrm>
          <a:off x="0" y="0"/>
          <a:ext cx="0" cy="0"/>
          <a:chOff x="0" y="0"/>
          <a:chExt cx="0" cy="0"/>
        </a:xfrm>
      </p:grpSpPr>
      <p:sp>
        <p:nvSpPr>
          <p:cNvPr id="92" name="Google Shape;92;p16"/>
          <p:cNvSpPr txBox="1"/>
          <p:nvPr>
            <p:ph idx="4294967295" type="title"/>
          </p:nvPr>
        </p:nvSpPr>
        <p:spPr>
          <a:xfrm>
            <a:off x="535775" y="712150"/>
            <a:ext cx="59061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Research Problem </a:t>
            </a:r>
            <a:endParaRPr sz="2400"/>
          </a:p>
        </p:txBody>
      </p:sp>
      <p:sp>
        <p:nvSpPr>
          <p:cNvPr id="93" name="Google Shape;93;p16"/>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Lato"/>
                <a:ea typeface="Lato"/>
                <a:cs typeface="Lato"/>
                <a:sym typeface="Lato"/>
              </a:rPr>
              <a:t>Predicting Short-Term Residential Electricity Load with different types of neural networks</a:t>
            </a:r>
            <a:endParaRPr sz="1800">
              <a:latin typeface="Lato"/>
              <a:ea typeface="Lato"/>
              <a:cs typeface="Lato"/>
              <a:sym typeface="Lato"/>
            </a:endParaRPr>
          </a:p>
          <a:p>
            <a:pPr indent="0" lvl="0" marL="0" rtl="0" algn="l">
              <a:lnSpc>
                <a:spcPct val="115000"/>
              </a:lnSpc>
              <a:spcBef>
                <a:spcPts val="1600"/>
              </a:spcBef>
              <a:spcAft>
                <a:spcPts val="0"/>
              </a:spcAft>
              <a:buNone/>
            </a:pPr>
            <a:r>
              <a:t/>
            </a:r>
            <a:endParaRPr sz="1800">
              <a:latin typeface="Lato"/>
              <a:ea typeface="Lato"/>
              <a:cs typeface="Lato"/>
              <a:sym typeface="Lato"/>
            </a:endParaRPr>
          </a:p>
          <a:p>
            <a:pPr indent="-342900" lvl="0" marL="457200" rtl="0" algn="l">
              <a:lnSpc>
                <a:spcPct val="115000"/>
              </a:lnSpc>
              <a:spcBef>
                <a:spcPts val="1600"/>
              </a:spcBef>
              <a:spcAft>
                <a:spcPts val="0"/>
              </a:spcAft>
              <a:buSzPts val="1800"/>
              <a:buFont typeface="Lato"/>
              <a:buChar char="●"/>
            </a:pPr>
            <a:r>
              <a:rPr lang="en" sz="1800">
                <a:latin typeface="Lato"/>
                <a:ea typeface="Lato"/>
                <a:cs typeface="Lato"/>
                <a:sym typeface="Lato"/>
              </a:rPr>
              <a:t>Challenges for predicting</a:t>
            </a:r>
            <a:endParaRPr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Weather</a:t>
            </a:r>
            <a:endParaRPr b="0"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Demand Peaks</a:t>
            </a:r>
            <a:endParaRPr b="0"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Individual User Behavior</a:t>
            </a:r>
            <a:endParaRPr b="0" sz="1800">
              <a:latin typeface="Lato"/>
              <a:ea typeface="Lato"/>
              <a:cs typeface="Lato"/>
              <a:sym typeface="Lato"/>
            </a:endParaRPr>
          </a:p>
        </p:txBody>
      </p:sp>
      <p:grpSp>
        <p:nvGrpSpPr>
          <p:cNvPr id="94" name="Google Shape;94;p16"/>
          <p:cNvGrpSpPr/>
          <p:nvPr/>
        </p:nvGrpSpPr>
        <p:grpSpPr>
          <a:xfrm>
            <a:off x="5561287" y="1199437"/>
            <a:ext cx="3299937" cy="3628926"/>
            <a:chOff x="5130087" y="1192600"/>
            <a:chExt cx="3299937" cy="3628926"/>
          </a:xfrm>
        </p:grpSpPr>
        <p:pic>
          <p:nvPicPr>
            <p:cNvPr id="95" name="Google Shape;95;p16"/>
            <p:cNvPicPr preferRelativeResize="0"/>
            <p:nvPr/>
          </p:nvPicPr>
          <p:blipFill rotWithShape="1">
            <a:blip r:embed="rId3">
              <a:alphaModFix/>
            </a:blip>
            <a:srcRect b="0" l="0" r="0" t="0"/>
            <a:stretch/>
          </p:blipFill>
          <p:spPr>
            <a:xfrm>
              <a:off x="7212975" y="1803775"/>
              <a:ext cx="1217049" cy="1217049"/>
            </a:xfrm>
            <a:prstGeom prst="rect">
              <a:avLst/>
            </a:prstGeom>
            <a:noFill/>
            <a:ln>
              <a:noFill/>
            </a:ln>
          </p:spPr>
        </p:pic>
        <p:pic>
          <p:nvPicPr>
            <p:cNvPr id="96" name="Google Shape;96;p16"/>
            <p:cNvPicPr preferRelativeResize="0"/>
            <p:nvPr/>
          </p:nvPicPr>
          <p:blipFill>
            <a:blip r:embed="rId4">
              <a:alphaModFix/>
            </a:blip>
            <a:stretch>
              <a:fillRect/>
            </a:stretch>
          </p:blipFill>
          <p:spPr>
            <a:xfrm>
              <a:off x="5457525" y="2350149"/>
              <a:ext cx="2471377" cy="2471377"/>
            </a:xfrm>
            <a:prstGeom prst="rect">
              <a:avLst/>
            </a:prstGeom>
            <a:noFill/>
            <a:ln>
              <a:noFill/>
            </a:ln>
          </p:spPr>
        </p:pic>
        <p:pic>
          <p:nvPicPr>
            <p:cNvPr id="97" name="Google Shape;97;p16"/>
            <p:cNvPicPr preferRelativeResize="0"/>
            <p:nvPr/>
          </p:nvPicPr>
          <p:blipFill rotWithShape="1">
            <a:blip r:embed="rId3">
              <a:alphaModFix/>
            </a:blip>
            <a:srcRect b="0" l="0" r="0" t="0"/>
            <a:stretch/>
          </p:blipFill>
          <p:spPr>
            <a:xfrm>
              <a:off x="6169250" y="1192600"/>
              <a:ext cx="1217049" cy="1217049"/>
            </a:xfrm>
            <a:prstGeom prst="rect">
              <a:avLst/>
            </a:prstGeom>
            <a:noFill/>
            <a:ln>
              <a:noFill/>
            </a:ln>
          </p:spPr>
        </p:pic>
        <p:pic>
          <p:nvPicPr>
            <p:cNvPr id="98" name="Google Shape;98;p16"/>
            <p:cNvPicPr preferRelativeResize="0"/>
            <p:nvPr/>
          </p:nvPicPr>
          <p:blipFill rotWithShape="1">
            <a:blip r:embed="rId3">
              <a:alphaModFix/>
            </a:blip>
            <a:srcRect b="0" l="0" r="0" t="0"/>
            <a:stretch/>
          </p:blipFill>
          <p:spPr>
            <a:xfrm>
              <a:off x="5130087" y="1885225"/>
              <a:ext cx="1217049" cy="1217049"/>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txBox="1"/>
          <p:nvPr>
            <p:ph idx="4294967295" type="title"/>
          </p:nvPr>
        </p:nvSpPr>
        <p:spPr>
          <a:xfrm>
            <a:off x="535775" y="712150"/>
            <a:ext cx="59061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Research Problem </a:t>
            </a:r>
            <a:endParaRPr sz="2400"/>
          </a:p>
        </p:txBody>
      </p:sp>
      <p:sp>
        <p:nvSpPr>
          <p:cNvPr id="104" name="Google Shape;104;p17"/>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Lato"/>
                <a:ea typeface="Lato"/>
                <a:cs typeface="Lato"/>
                <a:sym typeface="Lato"/>
              </a:rPr>
              <a:t>Short-Term Residential Electricity Load</a:t>
            </a:r>
            <a:endParaRPr sz="1800">
              <a:latin typeface="Lato"/>
              <a:ea typeface="Lato"/>
              <a:cs typeface="Lato"/>
              <a:sym typeface="Lato"/>
            </a:endParaRPr>
          </a:p>
          <a:p>
            <a:pPr indent="-342900" lvl="0" marL="457200" rtl="0" algn="l">
              <a:lnSpc>
                <a:spcPct val="115000"/>
              </a:lnSpc>
              <a:spcBef>
                <a:spcPts val="1600"/>
              </a:spcBef>
              <a:spcAft>
                <a:spcPts val="0"/>
              </a:spcAft>
              <a:buSzPts val="1800"/>
              <a:buFont typeface="Lato"/>
              <a:buChar char="●"/>
            </a:pPr>
            <a:r>
              <a:rPr lang="en" sz="1800">
                <a:latin typeface="Lato"/>
                <a:ea typeface="Lato"/>
                <a:cs typeface="Lato"/>
                <a:sym typeface="Lato"/>
              </a:rPr>
              <a:t>Challenges</a:t>
            </a:r>
            <a:endParaRPr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Weather</a:t>
            </a:r>
            <a:endParaRPr b="0"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Demand Peaks</a:t>
            </a:r>
            <a:endParaRPr b="0"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Individual User Behavior</a:t>
            </a:r>
            <a:endParaRPr b="0" sz="1800">
              <a:latin typeface="Lato"/>
              <a:ea typeface="Lato"/>
              <a:cs typeface="Lato"/>
              <a:sym typeface="Lato"/>
            </a:endParaRPr>
          </a:p>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Opportunities</a:t>
            </a:r>
            <a:endParaRPr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Demand Response</a:t>
            </a:r>
            <a:endParaRPr b="0"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Resource Allocation</a:t>
            </a:r>
            <a:endParaRPr b="0" sz="1800">
              <a:latin typeface="Lato"/>
              <a:ea typeface="Lato"/>
              <a:cs typeface="Lato"/>
              <a:sym typeface="Lato"/>
            </a:endParaRPr>
          </a:p>
          <a:p>
            <a:pPr indent="-342900" lvl="1" marL="914400" rtl="0" algn="l">
              <a:lnSpc>
                <a:spcPct val="115000"/>
              </a:lnSpc>
              <a:spcBef>
                <a:spcPts val="0"/>
              </a:spcBef>
              <a:spcAft>
                <a:spcPts val="0"/>
              </a:spcAft>
              <a:buSzPts val="1800"/>
              <a:buFont typeface="Lato"/>
              <a:buChar char="○"/>
            </a:pPr>
            <a:r>
              <a:rPr b="0" lang="en" sz="1800">
                <a:latin typeface="Lato"/>
                <a:ea typeface="Lato"/>
                <a:cs typeface="Lato"/>
                <a:sym typeface="Lato"/>
              </a:rPr>
              <a:t>Environmental Impact</a:t>
            </a:r>
            <a:endParaRPr b="0" sz="1800">
              <a:latin typeface="Lato"/>
              <a:ea typeface="Lato"/>
              <a:cs typeface="Lato"/>
              <a:sym typeface="Lato"/>
            </a:endParaRPr>
          </a:p>
        </p:txBody>
      </p:sp>
      <p:pic>
        <p:nvPicPr>
          <p:cNvPr id="105" name="Google Shape;105;p17"/>
          <p:cNvPicPr preferRelativeResize="0"/>
          <p:nvPr/>
        </p:nvPicPr>
        <p:blipFill rotWithShape="1">
          <a:blip r:embed="rId3">
            <a:alphaModFix/>
          </a:blip>
          <a:srcRect b="0" l="0" r="0" t="0"/>
          <a:stretch/>
        </p:blipFill>
        <p:spPr>
          <a:xfrm>
            <a:off x="7212975" y="1803775"/>
            <a:ext cx="1217049" cy="1217049"/>
          </a:xfrm>
          <a:prstGeom prst="rect">
            <a:avLst/>
          </a:prstGeom>
          <a:noFill/>
          <a:ln>
            <a:noFill/>
          </a:ln>
        </p:spPr>
      </p:pic>
      <p:pic>
        <p:nvPicPr>
          <p:cNvPr id="106" name="Google Shape;106;p17"/>
          <p:cNvPicPr preferRelativeResize="0"/>
          <p:nvPr/>
        </p:nvPicPr>
        <p:blipFill>
          <a:blip r:embed="rId4">
            <a:alphaModFix/>
          </a:blip>
          <a:stretch>
            <a:fillRect/>
          </a:stretch>
        </p:blipFill>
        <p:spPr>
          <a:xfrm>
            <a:off x="5457525" y="2350149"/>
            <a:ext cx="2471377" cy="2471377"/>
          </a:xfrm>
          <a:prstGeom prst="rect">
            <a:avLst/>
          </a:prstGeom>
          <a:noFill/>
          <a:ln>
            <a:noFill/>
          </a:ln>
        </p:spPr>
      </p:pic>
      <p:pic>
        <p:nvPicPr>
          <p:cNvPr id="107" name="Google Shape;107;p17"/>
          <p:cNvPicPr preferRelativeResize="0"/>
          <p:nvPr/>
        </p:nvPicPr>
        <p:blipFill rotWithShape="1">
          <a:blip r:embed="rId3">
            <a:alphaModFix/>
          </a:blip>
          <a:srcRect b="0" l="0" r="0" t="0"/>
          <a:stretch/>
        </p:blipFill>
        <p:spPr>
          <a:xfrm>
            <a:off x="6169250" y="1192600"/>
            <a:ext cx="1217049" cy="1217049"/>
          </a:xfrm>
          <a:prstGeom prst="rect">
            <a:avLst/>
          </a:prstGeom>
          <a:noFill/>
          <a:ln>
            <a:noFill/>
          </a:ln>
        </p:spPr>
      </p:pic>
      <p:pic>
        <p:nvPicPr>
          <p:cNvPr id="108" name="Google Shape;108;p17"/>
          <p:cNvPicPr preferRelativeResize="0"/>
          <p:nvPr/>
        </p:nvPicPr>
        <p:blipFill rotWithShape="1">
          <a:blip r:embed="rId3">
            <a:alphaModFix/>
          </a:blip>
          <a:srcRect b="0" l="0" r="0" t="0"/>
          <a:stretch/>
        </p:blipFill>
        <p:spPr>
          <a:xfrm>
            <a:off x="5130087" y="1885225"/>
            <a:ext cx="1217049" cy="12170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Dataset</a:t>
            </a:r>
            <a:endParaRPr sz="2400"/>
          </a:p>
        </p:txBody>
      </p:sp>
      <p:sp>
        <p:nvSpPr>
          <p:cNvPr id="114" name="Google Shape;114;p18"/>
          <p:cNvSpPr txBox="1"/>
          <p:nvPr>
            <p:ph idx="4294967295" type="title"/>
          </p:nvPr>
        </p:nvSpPr>
        <p:spPr>
          <a:xfrm>
            <a:off x="535775" y="1480150"/>
            <a:ext cx="79785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 sz="1800">
                <a:latin typeface="Lato"/>
                <a:ea typeface="Lato"/>
                <a:cs typeface="Lato"/>
                <a:sym typeface="Lato"/>
              </a:rPr>
              <a:t>The dataset used is a compilation of three different datasets:</a:t>
            </a:r>
            <a:endParaRPr b="0" sz="1800">
              <a:latin typeface="Lato"/>
              <a:ea typeface="Lato"/>
              <a:cs typeface="Lato"/>
              <a:sym typeface="Lato"/>
            </a:endParaRPr>
          </a:p>
          <a:p>
            <a:pPr indent="-342900" lvl="0" marL="914400" rtl="0" algn="l">
              <a:lnSpc>
                <a:spcPct val="115000"/>
              </a:lnSpc>
              <a:spcBef>
                <a:spcPts val="1200"/>
              </a:spcBef>
              <a:spcAft>
                <a:spcPts val="0"/>
              </a:spcAft>
              <a:buSzPts val="1800"/>
              <a:buFont typeface="Lato"/>
              <a:buChar char="●"/>
            </a:pPr>
            <a:r>
              <a:rPr b="0" lang="en" sz="1800">
                <a:latin typeface="Lato"/>
                <a:ea typeface="Lato"/>
                <a:cs typeface="Lato"/>
                <a:sym typeface="Lato"/>
              </a:rPr>
              <a:t>London Weather Data</a:t>
            </a:r>
            <a:endParaRPr b="0" sz="1800">
              <a:latin typeface="Lato"/>
              <a:ea typeface="Lato"/>
              <a:cs typeface="Lato"/>
              <a:sym typeface="Lato"/>
            </a:endParaRPr>
          </a:p>
          <a:p>
            <a:pPr indent="-342900" lvl="0" marL="914400" rtl="0" algn="l">
              <a:lnSpc>
                <a:spcPct val="115000"/>
              </a:lnSpc>
              <a:spcBef>
                <a:spcPts val="0"/>
              </a:spcBef>
              <a:spcAft>
                <a:spcPts val="0"/>
              </a:spcAft>
              <a:buSzPts val="1800"/>
              <a:buFont typeface="Lato"/>
              <a:buChar char="●"/>
            </a:pPr>
            <a:r>
              <a:rPr b="0" lang="en" sz="1800">
                <a:latin typeface="Lato"/>
                <a:ea typeface="Lato"/>
                <a:cs typeface="Lato"/>
                <a:sym typeface="Lato"/>
              </a:rPr>
              <a:t>ACORN classification details</a:t>
            </a:r>
            <a:endParaRPr b="0" sz="1800">
              <a:latin typeface="Lato"/>
              <a:ea typeface="Lato"/>
              <a:cs typeface="Lato"/>
              <a:sym typeface="Lato"/>
            </a:endParaRPr>
          </a:p>
          <a:p>
            <a:pPr indent="-342900" lvl="1" marL="1371600" rtl="0" algn="l">
              <a:lnSpc>
                <a:spcPct val="115000"/>
              </a:lnSpc>
              <a:spcBef>
                <a:spcPts val="0"/>
              </a:spcBef>
              <a:spcAft>
                <a:spcPts val="0"/>
              </a:spcAft>
              <a:buSzPts val="1800"/>
              <a:buFont typeface="Lato"/>
              <a:buChar char="○"/>
            </a:pPr>
            <a:r>
              <a:rPr b="0" lang="en" sz="1800">
                <a:latin typeface="Lato"/>
                <a:ea typeface="Lato"/>
                <a:cs typeface="Lato"/>
                <a:sym typeface="Lato"/>
              </a:rPr>
              <a:t>Acorns = different segments of the UK and demographic information on each segment</a:t>
            </a:r>
            <a:endParaRPr b="0" sz="1800">
              <a:latin typeface="Lato"/>
              <a:ea typeface="Lato"/>
              <a:cs typeface="Lato"/>
              <a:sym typeface="Lato"/>
            </a:endParaRPr>
          </a:p>
          <a:p>
            <a:pPr indent="-342900" lvl="0" marL="914400" rtl="0" algn="l">
              <a:lnSpc>
                <a:spcPct val="115000"/>
              </a:lnSpc>
              <a:spcBef>
                <a:spcPts val="0"/>
              </a:spcBef>
              <a:spcAft>
                <a:spcPts val="0"/>
              </a:spcAft>
              <a:buSzPts val="1800"/>
              <a:buFont typeface="Lato"/>
              <a:buChar char="●"/>
            </a:pPr>
            <a:r>
              <a:rPr b="0" lang="en" sz="1800">
                <a:latin typeface="Lato"/>
                <a:ea typeface="Lato"/>
                <a:cs typeface="Lato"/>
                <a:sym typeface="Lato"/>
              </a:rPr>
              <a:t> Energy Consumption Readings from London Households </a:t>
            </a:r>
            <a:endParaRPr b="0" sz="1800">
              <a:latin typeface="Lato"/>
              <a:ea typeface="Lato"/>
              <a:cs typeface="Lato"/>
              <a:sym typeface="Lato"/>
            </a:endParaRPr>
          </a:p>
          <a:p>
            <a:pPr indent="-342900" lvl="1" marL="1371600" rtl="0" algn="l">
              <a:lnSpc>
                <a:spcPct val="115000"/>
              </a:lnSpc>
              <a:spcBef>
                <a:spcPts val="0"/>
              </a:spcBef>
              <a:spcAft>
                <a:spcPts val="0"/>
              </a:spcAft>
              <a:buSzPts val="1800"/>
              <a:buFont typeface="Lato"/>
              <a:buChar char="○"/>
            </a:pPr>
            <a:r>
              <a:rPr b="0" lang="en" sz="1800">
                <a:latin typeface="Lato"/>
                <a:ea typeface="Lato"/>
                <a:cs typeface="Lato"/>
                <a:sym typeface="Lato"/>
              </a:rPr>
              <a:t>5,567 London households</a:t>
            </a:r>
            <a:endParaRPr b="0" sz="1800">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Models</a:t>
            </a:r>
            <a:endParaRPr sz="2400"/>
          </a:p>
        </p:txBody>
      </p:sp>
      <p:graphicFrame>
        <p:nvGraphicFramePr>
          <p:cNvPr id="120" name="Google Shape;120;p19"/>
          <p:cNvGraphicFramePr/>
          <p:nvPr/>
        </p:nvGraphicFramePr>
        <p:xfrm>
          <a:off x="535750" y="1689050"/>
          <a:ext cx="3000000" cy="3000000"/>
        </p:xfrm>
        <a:graphic>
          <a:graphicData uri="http://schemas.openxmlformats.org/drawingml/2006/table">
            <a:tbl>
              <a:tblPr>
                <a:noFill/>
                <a:tableStyleId>{2F9FCDCF-194E-4FC4-898B-3F7575970EA5}</a:tableStyleId>
              </a:tblPr>
              <a:tblGrid>
                <a:gridCol w="4050875"/>
                <a:gridCol w="4050875"/>
              </a:tblGrid>
              <a:tr h="1453175">
                <a:tc>
                  <a:txBody>
                    <a:bodyPr/>
                    <a:lstStyle/>
                    <a:p>
                      <a:pPr indent="0" lvl="0" marL="0" rtl="0" algn="l">
                        <a:spcBef>
                          <a:spcPts val="0"/>
                        </a:spcBef>
                        <a:spcAft>
                          <a:spcPts val="0"/>
                        </a:spcAft>
                        <a:buNone/>
                      </a:pPr>
                      <a:r>
                        <a:rPr b="1" lang="en" u="sng">
                          <a:latin typeface="Lato"/>
                          <a:ea typeface="Lato"/>
                          <a:cs typeface="Lato"/>
                          <a:sym typeface="Lato"/>
                        </a:rPr>
                        <a:t>SIMPLE RNN</a:t>
                      </a:r>
                      <a:endParaRPr b="1" u="sng">
                        <a:latin typeface="Lato"/>
                        <a:ea typeface="Lato"/>
                        <a:cs typeface="Lato"/>
                        <a:sym typeface="Lato"/>
                      </a:endParaRPr>
                    </a:p>
                    <a:p>
                      <a:pPr indent="-292100" lvl="0" marL="457200" rtl="0" algn="l">
                        <a:lnSpc>
                          <a:spcPct val="115000"/>
                        </a:lnSpc>
                        <a:spcBef>
                          <a:spcPts val="0"/>
                        </a:spcBef>
                        <a:spcAft>
                          <a:spcPts val="0"/>
                        </a:spcAft>
                        <a:buClr>
                          <a:schemeClr val="dk2"/>
                        </a:buClr>
                        <a:buSzPts val="1000"/>
                        <a:buFont typeface="Lato"/>
                        <a:buChar char="●"/>
                      </a:pPr>
                      <a:r>
                        <a:rPr lang="en" sz="1000"/>
                        <a:t>Simple architecture makes it easy to implement and understand</a:t>
                      </a:r>
                      <a:endParaRPr sz="1000"/>
                    </a:p>
                    <a:p>
                      <a:pPr indent="-292100" lvl="0" marL="457200" rtl="0" algn="l">
                        <a:lnSpc>
                          <a:spcPct val="115000"/>
                        </a:lnSpc>
                        <a:spcBef>
                          <a:spcPts val="0"/>
                        </a:spcBef>
                        <a:spcAft>
                          <a:spcPts val="0"/>
                        </a:spcAft>
                        <a:buClr>
                          <a:schemeClr val="dk2"/>
                        </a:buClr>
                        <a:buSzPts val="1000"/>
                        <a:buFont typeface="Raleway"/>
                        <a:buChar char="●"/>
                      </a:pPr>
                      <a:r>
                        <a:rPr lang="en" sz="1000"/>
                        <a:t>Limited ability to process long-term dependencies in sequence data.</a:t>
                      </a:r>
                      <a:endParaRPr sz="1000"/>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2"/>
                        </a:buClr>
                        <a:buSzPts val="1100"/>
                        <a:buFont typeface="Arial"/>
                        <a:buNone/>
                      </a:pPr>
                      <a:r>
                        <a:rPr b="1" lang="en" u="sng">
                          <a:solidFill>
                            <a:schemeClr val="dk2"/>
                          </a:solidFill>
                          <a:latin typeface="Lato"/>
                          <a:ea typeface="Lato"/>
                          <a:cs typeface="Lato"/>
                          <a:sym typeface="Lato"/>
                        </a:rPr>
                        <a:t>LSTM</a:t>
                      </a:r>
                      <a:endParaRPr b="1" u="sng">
                        <a:solidFill>
                          <a:schemeClr val="dk2"/>
                        </a:solidFill>
                        <a:latin typeface="Lato"/>
                        <a:ea typeface="Lato"/>
                        <a:cs typeface="Lato"/>
                        <a:sym typeface="Lato"/>
                      </a:endParaRPr>
                    </a:p>
                    <a:p>
                      <a:pPr indent="-292100" lvl="0" marL="457200" rtl="0" algn="l">
                        <a:lnSpc>
                          <a:spcPct val="115000"/>
                        </a:lnSpc>
                        <a:spcBef>
                          <a:spcPts val="0"/>
                        </a:spcBef>
                        <a:spcAft>
                          <a:spcPts val="0"/>
                        </a:spcAft>
                        <a:buClr>
                          <a:schemeClr val="dk2"/>
                        </a:buClr>
                        <a:buSzPts val="1000"/>
                        <a:buFont typeface="Lato"/>
                        <a:buChar char="●"/>
                      </a:pPr>
                      <a:r>
                        <a:rPr lang="en" sz="1000">
                          <a:solidFill>
                            <a:schemeClr val="dk2"/>
                          </a:solidFill>
                        </a:rPr>
                        <a:t>Excellently handles long-term dependencies due to its gating mechanism.</a:t>
                      </a:r>
                      <a:endParaRPr sz="1000">
                        <a:solidFill>
                          <a:schemeClr val="dk2"/>
                        </a:solidFill>
                      </a:endParaRPr>
                    </a:p>
                    <a:p>
                      <a:pPr indent="-292100" lvl="0" marL="457200" rtl="0" algn="l">
                        <a:lnSpc>
                          <a:spcPct val="115000"/>
                        </a:lnSpc>
                        <a:spcBef>
                          <a:spcPts val="0"/>
                        </a:spcBef>
                        <a:spcAft>
                          <a:spcPts val="0"/>
                        </a:spcAft>
                        <a:buClr>
                          <a:schemeClr val="dk2"/>
                        </a:buClr>
                        <a:buSzPts val="1000"/>
                        <a:buFont typeface="Raleway"/>
                        <a:buChar char="●"/>
                      </a:pPr>
                      <a:r>
                        <a:rPr lang="en" sz="1000">
                          <a:solidFill>
                            <a:schemeClr val="dk2"/>
                          </a:solidFill>
                        </a:rPr>
                        <a:t>Effectively mitigates vanishing gradient problem, allowing for deeper networks</a:t>
                      </a:r>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53175">
                <a:tc>
                  <a:txBody>
                    <a:bodyPr/>
                    <a:lstStyle/>
                    <a:p>
                      <a:pPr indent="0" lvl="0" marL="0" rtl="0" algn="l">
                        <a:spcBef>
                          <a:spcPts val="0"/>
                        </a:spcBef>
                        <a:spcAft>
                          <a:spcPts val="0"/>
                        </a:spcAft>
                        <a:buClr>
                          <a:schemeClr val="dk2"/>
                        </a:buClr>
                        <a:buSzPts val="1100"/>
                        <a:buFont typeface="Arial"/>
                        <a:buNone/>
                      </a:pPr>
                      <a:r>
                        <a:rPr b="1" lang="en" u="sng">
                          <a:solidFill>
                            <a:schemeClr val="dk2"/>
                          </a:solidFill>
                          <a:latin typeface="Lato"/>
                          <a:ea typeface="Lato"/>
                          <a:cs typeface="Lato"/>
                          <a:sym typeface="Lato"/>
                        </a:rPr>
                        <a:t>MOMENTUM RNN</a:t>
                      </a:r>
                      <a:endParaRPr b="1" u="sng">
                        <a:solidFill>
                          <a:schemeClr val="dk2"/>
                        </a:solidFill>
                        <a:latin typeface="Lato"/>
                        <a:ea typeface="Lato"/>
                        <a:cs typeface="Lato"/>
                        <a:sym typeface="Lato"/>
                      </a:endParaRPr>
                    </a:p>
                    <a:p>
                      <a:pPr indent="-292100" lvl="0" marL="457200" rtl="0" algn="l">
                        <a:lnSpc>
                          <a:spcPct val="115000"/>
                        </a:lnSpc>
                        <a:spcBef>
                          <a:spcPts val="0"/>
                        </a:spcBef>
                        <a:spcAft>
                          <a:spcPts val="0"/>
                        </a:spcAft>
                        <a:buClr>
                          <a:schemeClr val="dk2"/>
                        </a:buClr>
                        <a:buSzPts val="1000"/>
                        <a:buFont typeface="Lato"/>
                        <a:buChar char="●"/>
                      </a:pPr>
                      <a:r>
                        <a:rPr lang="en" sz="1000">
                          <a:solidFill>
                            <a:schemeClr val="dk2"/>
                          </a:solidFill>
                        </a:rPr>
                        <a:t>Faster convergence during training due to momentum factor in optimization.</a:t>
                      </a:r>
                      <a:endParaRPr sz="1000">
                        <a:solidFill>
                          <a:schemeClr val="dk2"/>
                        </a:solidFill>
                      </a:endParaRPr>
                    </a:p>
                    <a:p>
                      <a:pPr indent="-292100" lvl="0" marL="457200" rtl="0" algn="l">
                        <a:lnSpc>
                          <a:spcPct val="115000"/>
                        </a:lnSpc>
                        <a:spcBef>
                          <a:spcPts val="0"/>
                        </a:spcBef>
                        <a:spcAft>
                          <a:spcPts val="0"/>
                        </a:spcAft>
                        <a:buClr>
                          <a:schemeClr val="dk2"/>
                        </a:buClr>
                        <a:buSzPts val="1000"/>
                        <a:buFont typeface="Raleway"/>
                        <a:buChar char="●"/>
                      </a:pPr>
                      <a:r>
                        <a:rPr lang="en" sz="1000">
                          <a:solidFill>
                            <a:schemeClr val="dk2"/>
                          </a:solidFill>
                        </a:rPr>
                        <a:t>Improved ability to deal with vanishing gradients compared to Simple RNNs.</a:t>
                      </a:r>
                      <a:endParaRPr/>
                    </a:p>
                  </a:txBody>
                  <a:tcPr marT="91425" marB="91425" marR="91425" marL="91425">
                    <a:lnL cap="flat" cmpd="sng" w="9525">
                      <a:solidFill>
                        <a:schemeClr val="dk2"/>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2"/>
                        </a:buClr>
                        <a:buSzPts val="1100"/>
                        <a:buFont typeface="Arial"/>
                        <a:buNone/>
                      </a:pPr>
                      <a:r>
                        <a:rPr b="1" lang="en" u="sng">
                          <a:solidFill>
                            <a:schemeClr val="dk2"/>
                          </a:solidFill>
                          <a:latin typeface="Lato"/>
                          <a:ea typeface="Lato"/>
                          <a:cs typeface="Lato"/>
                          <a:sym typeface="Lato"/>
                        </a:rPr>
                        <a:t>MOGRIFIER LSTM</a:t>
                      </a:r>
                      <a:endParaRPr b="1" u="sng">
                        <a:solidFill>
                          <a:schemeClr val="dk2"/>
                        </a:solidFill>
                        <a:latin typeface="Lato"/>
                        <a:ea typeface="Lato"/>
                        <a:cs typeface="Lato"/>
                        <a:sym typeface="Lato"/>
                      </a:endParaRPr>
                    </a:p>
                    <a:p>
                      <a:pPr indent="-292100" lvl="0" marL="457200" rtl="0" algn="l">
                        <a:lnSpc>
                          <a:spcPct val="115000"/>
                        </a:lnSpc>
                        <a:spcBef>
                          <a:spcPts val="0"/>
                        </a:spcBef>
                        <a:spcAft>
                          <a:spcPts val="0"/>
                        </a:spcAft>
                        <a:buClr>
                          <a:schemeClr val="dk2"/>
                        </a:buClr>
                        <a:buSzPts val="1000"/>
                        <a:buFont typeface="Lato"/>
                        <a:buChar char="●"/>
                      </a:pPr>
                      <a:r>
                        <a:rPr lang="en" sz="1000">
                          <a:solidFill>
                            <a:schemeClr val="dk2"/>
                          </a:solidFill>
                        </a:rPr>
                        <a:t>Enhanced LSTM variant with improved handling of long-term dependencies.</a:t>
                      </a:r>
                      <a:endParaRPr sz="1000">
                        <a:solidFill>
                          <a:schemeClr val="dk2"/>
                        </a:solidFill>
                      </a:endParaRPr>
                    </a:p>
                    <a:p>
                      <a:pPr indent="-292100" lvl="0" marL="457200" rtl="0" algn="l">
                        <a:lnSpc>
                          <a:spcPct val="115000"/>
                        </a:lnSpc>
                        <a:spcBef>
                          <a:spcPts val="0"/>
                        </a:spcBef>
                        <a:spcAft>
                          <a:spcPts val="0"/>
                        </a:spcAft>
                        <a:buClr>
                          <a:schemeClr val="dk2"/>
                        </a:buClr>
                        <a:buSzPts val="1000"/>
                        <a:buFont typeface="Raleway"/>
                        <a:buChar char="●"/>
                      </a:pPr>
                      <a:r>
                        <a:rPr lang="en" sz="1000">
                          <a:solidFill>
                            <a:schemeClr val="dk2"/>
                          </a:solidFill>
                        </a:rPr>
                        <a:t>Longer training times and increased demand for data to achieve optimal performance.</a:t>
                      </a:r>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353535"/>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4" name="Shape 124"/>
        <p:cNvGrpSpPr/>
        <p:nvPr/>
      </p:nvGrpSpPr>
      <p:grpSpPr>
        <a:xfrm>
          <a:off x="0" y="0"/>
          <a:ext cx="0" cy="0"/>
          <a:chOff x="0" y="0"/>
          <a:chExt cx="0" cy="0"/>
        </a:xfrm>
      </p:grpSpPr>
      <p:sp>
        <p:nvSpPr>
          <p:cNvPr id="125" name="Google Shape;125;p20"/>
          <p:cNvSpPr txBox="1"/>
          <p:nvPr>
            <p:ph idx="4294967295" type="title"/>
          </p:nvPr>
        </p:nvSpPr>
        <p:spPr>
          <a:xfrm>
            <a:off x="1973400" y="48900"/>
            <a:ext cx="51972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600">
                <a:solidFill>
                  <a:schemeClr val="dk1"/>
                </a:solidFill>
              </a:rPr>
              <a:t>Simple RNN</a:t>
            </a:r>
            <a:endParaRPr sz="2400"/>
          </a:p>
        </p:txBody>
      </p:sp>
      <p:pic>
        <p:nvPicPr>
          <p:cNvPr id="126" name="Google Shape;126;p20"/>
          <p:cNvPicPr preferRelativeResize="0"/>
          <p:nvPr/>
        </p:nvPicPr>
        <p:blipFill rotWithShape="1">
          <a:blip r:embed="rId4">
            <a:alphaModFix/>
          </a:blip>
          <a:srcRect b="2069" l="2489" r="2136" t="4698"/>
          <a:stretch/>
        </p:blipFill>
        <p:spPr>
          <a:xfrm>
            <a:off x="297950" y="1250450"/>
            <a:ext cx="4955325" cy="3312825"/>
          </a:xfrm>
          <a:prstGeom prst="rect">
            <a:avLst/>
          </a:prstGeom>
          <a:noFill/>
          <a:ln>
            <a:noFill/>
          </a:ln>
        </p:spPr>
      </p:pic>
      <p:sp>
        <p:nvSpPr>
          <p:cNvPr id="127" name="Google Shape;127;p20"/>
          <p:cNvSpPr txBox="1"/>
          <p:nvPr/>
        </p:nvSpPr>
        <p:spPr>
          <a:xfrm>
            <a:off x="5629625" y="1160425"/>
            <a:ext cx="2901000" cy="34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Model: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Two layers:</a:t>
            </a:r>
            <a:endParaRPr sz="1800">
              <a:solidFill>
                <a:schemeClr val="dk2"/>
              </a:solidFill>
              <a:latin typeface="Lato"/>
              <a:ea typeface="Lato"/>
              <a:cs typeface="Lato"/>
              <a:sym typeface="Lato"/>
            </a:endParaRPr>
          </a:p>
          <a:p>
            <a:pPr indent="-342900" lvl="1" marL="9144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Simple RNN</a:t>
            </a:r>
            <a:endParaRPr sz="1800">
              <a:solidFill>
                <a:schemeClr val="dk2"/>
              </a:solidFill>
              <a:latin typeface="Lato"/>
              <a:ea typeface="Lato"/>
              <a:cs typeface="Lato"/>
              <a:sym typeface="Lato"/>
            </a:endParaRPr>
          </a:p>
          <a:p>
            <a:pPr indent="-342900" lvl="1" marL="9144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Dense </a:t>
            </a:r>
            <a:endParaRPr sz="1800">
              <a:solidFill>
                <a:schemeClr val="dk2"/>
              </a:solidFill>
              <a:latin typeface="Lato"/>
              <a:ea typeface="Lato"/>
              <a:cs typeface="Lato"/>
              <a:sym typeface="Lato"/>
            </a:endParaRPr>
          </a:p>
          <a:p>
            <a:pPr indent="0" lvl="0" marL="45720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Training:</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Optimizer: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Loss: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Epoch: </a:t>
            </a:r>
            <a:endParaRPr sz="1800">
              <a:solidFill>
                <a:schemeClr val="dk2"/>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 name="Shape 131"/>
        <p:cNvGrpSpPr/>
        <p:nvPr/>
      </p:nvGrpSpPr>
      <p:grpSpPr>
        <a:xfrm>
          <a:off x="0" y="0"/>
          <a:ext cx="0" cy="0"/>
          <a:chOff x="0" y="0"/>
          <a:chExt cx="0" cy="0"/>
        </a:xfrm>
      </p:grpSpPr>
      <p:sp>
        <p:nvSpPr>
          <p:cNvPr id="132" name="Google Shape;132;p21"/>
          <p:cNvSpPr/>
          <p:nvPr/>
        </p:nvSpPr>
        <p:spPr>
          <a:xfrm>
            <a:off x="2010265" y="1587378"/>
            <a:ext cx="4842900" cy="20589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 name="Google Shape;133;p21"/>
          <p:cNvSpPr/>
          <p:nvPr/>
        </p:nvSpPr>
        <p:spPr>
          <a:xfrm>
            <a:off x="2131397" y="3207307"/>
            <a:ext cx="284100" cy="292800"/>
          </a:xfrm>
          <a:prstGeom prst="flowChar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 name="Google Shape;134;p21"/>
          <p:cNvSpPr txBox="1"/>
          <p:nvPr/>
        </p:nvSpPr>
        <p:spPr>
          <a:xfrm>
            <a:off x="1335762" y="3169630"/>
            <a:ext cx="4500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h</a:t>
            </a:r>
            <a:r>
              <a:rPr baseline="-25000" lang="en">
                <a:latin typeface="Lato"/>
                <a:ea typeface="Lato"/>
                <a:cs typeface="Lato"/>
                <a:sym typeface="Lato"/>
              </a:rPr>
              <a:t>t</a:t>
            </a:r>
            <a:r>
              <a:rPr baseline="-25000" lang="en">
                <a:latin typeface="Lato"/>
                <a:ea typeface="Lato"/>
                <a:cs typeface="Lato"/>
                <a:sym typeface="Lato"/>
              </a:rPr>
              <a:t>-1</a:t>
            </a:r>
            <a:endParaRPr baseline="-25000">
              <a:latin typeface="Lato"/>
              <a:ea typeface="Lato"/>
              <a:cs typeface="Lato"/>
              <a:sym typeface="Lato"/>
            </a:endParaRPr>
          </a:p>
        </p:txBody>
      </p:sp>
      <p:sp>
        <p:nvSpPr>
          <p:cNvPr id="135" name="Google Shape;135;p21"/>
          <p:cNvSpPr txBox="1"/>
          <p:nvPr/>
        </p:nvSpPr>
        <p:spPr>
          <a:xfrm>
            <a:off x="2048627" y="3842512"/>
            <a:ext cx="450000" cy="16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x</a:t>
            </a:r>
            <a:r>
              <a:rPr baseline="-25000" lang="en">
                <a:latin typeface="Lato"/>
                <a:ea typeface="Lato"/>
                <a:cs typeface="Lato"/>
                <a:sym typeface="Lato"/>
              </a:rPr>
              <a:t>t</a:t>
            </a:r>
            <a:endParaRPr baseline="-25000">
              <a:latin typeface="Lato"/>
              <a:ea typeface="Lato"/>
              <a:cs typeface="Lato"/>
              <a:sym typeface="Lato"/>
            </a:endParaRPr>
          </a:p>
        </p:txBody>
      </p:sp>
      <p:sp>
        <p:nvSpPr>
          <p:cNvPr id="136" name="Google Shape;136;p21"/>
          <p:cNvSpPr txBox="1"/>
          <p:nvPr/>
        </p:nvSpPr>
        <p:spPr>
          <a:xfrm>
            <a:off x="6333161" y="1175875"/>
            <a:ext cx="450000" cy="29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y</a:t>
            </a:r>
            <a:r>
              <a:rPr baseline="-25000" lang="en">
                <a:latin typeface="Lato"/>
                <a:ea typeface="Lato"/>
                <a:cs typeface="Lato"/>
                <a:sym typeface="Lato"/>
              </a:rPr>
              <a:t>t</a:t>
            </a:r>
            <a:endParaRPr baseline="-25000">
              <a:latin typeface="Lato"/>
              <a:ea typeface="Lato"/>
              <a:cs typeface="Lato"/>
              <a:sym typeface="Lato"/>
            </a:endParaRPr>
          </a:p>
        </p:txBody>
      </p:sp>
      <p:sp>
        <p:nvSpPr>
          <p:cNvPr id="137" name="Google Shape;137;p21"/>
          <p:cNvSpPr txBox="1"/>
          <p:nvPr/>
        </p:nvSpPr>
        <p:spPr>
          <a:xfrm>
            <a:off x="6983798" y="2717919"/>
            <a:ext cx="450000" cy="41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h</a:t>
            </a:r>
            <a:r>
              <a:rPr baseline="-25000" lang="en">
                <a:latin typeface="Lato"/>
                <a:ea typeface="Lato"/>
                <a:cs typeface="Lato"/>
                <a:sym typeface="Lato"/>
              </a:rPr>
              <a:t>t</a:t>
            </a:r>
            <a:endParaRPr baseline="-25000">
              <a:latin typeface="Lato"/>
              <a:ea typeface="Lato"/>
              <a:cs typeface="Lato"/>
              <a:sym typeface="Lato"/>
            </a:endParaRPr>
          </a:p>
        </p:txBody>
      </p:sp>
      <p:cxnSp>
        <p:nvCxnSpPr>
          <p:cNvPr id="138" name="Google Shape;138;p21"/>
          <p:cNvCxnSpPr>
            <a:stCxn id="135" idx="0"/>
            <a:endCxn id="133" idx="4"/>
          </p:cNvCxnSpPr>
          <p:nvPr/>
        </p:nvCxnSpPr>
        <p:spPr>
          <a:xfrm rot="10800000">
            <a:off x="2273327" y="3500212"/>
            <a:ext cx="300" cy="342300"/>
          </a:xfrm>
          <a:prstGeom prst="straightConnector1">
            <a:avLst/>
          </a:prstGeom>
          <a:noFill/>
          <a:ln cap="flat" cmpd="sng" w="9525">
            <a:solidFill>
              <a:schemeClr val="dk2"/>
            </a:solidFill>
            <a:prstDash val="solid"/>
            <a:round/>
            <a:headEnd len="med" w="med" type="none"/>
            <a:tailEnd len="med" w="med" type="triangle"/>
          </a:ln>
        </p:spPr>
      </p:cxnSp>
      <p:cxnSp>
        <p:nvCxnSpPr>
          <p:cNvPr id="139" name="Google Shape;139;p21"/>
          <p:cNvCxnSpPr>
            <a:stCxn id="134" idx="3"/>
            <a:endCxn id="133" idx="2"/>
          </p:cNvCxnSpPr>
          <p:nvPr/>
        </p:nvCxnSpPr>
        <p:spPr>
          <a:xfrm>
            <a:off x="1785762" y="3353680"/>
            <a:ext cx="345600" cy="0"/>
          </a:xfrm>
          <a:prstGeom prst="straightConnector1">
            <a:avLst/>
          </a:prstGeom>
          <a:noFill/>
          <a:ln cap="flat" cmpd="sng" w="9525">
            <a:solidFill>
              <a:schemeClr val="dk2"/>
            </a:solidFill>
            <a:prstDash val="solid"/>
            <a:round/>
            <a:headEnd len="med" w="med" type="none"/>
            <a:tailEnd len="med" w="med" type="triangle"/>
          </a:ln>
        </p:spPr>
      </p:cxnSp>
      <p:sp>
        <p:nvSpPr>
          <p:cNvPr id="140" name="Google Shape;140;p21"/>
          <p:cNvSpPr txBox="1"/>
          <p:nvPr>
            <p:ph idx="4294967295" type="title"/>
          </p:nvPr>
        </p:nvSpPr>
        <p:spPr>
          <a:xfrm>
            <a:off x="1786175" y="22700"/>
            <a:ext cx="51972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600">
                <a:solidFill>
                  <a:schemeClr val="dk1"/>
                </a:solidFill>
              </a:rPr>
              <a:t>LSTM</a:t>
            </a:r>
            <a:endParaRPr sz="2400"/>
          </a:p>
        </p:txBody>
      </p:sp>
      <p:sp>
        <p:nvSpPr>
          <p:cNvPr id="141" name="Google Shape;141;p21"/>
          <p:cNvSpPr/>
          <p:nvPr/>
        </p:nvSpPr>
        <p:spPr>
          <a:xfrm>
            <a:off x="2306850" y="2774011"/>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Lato"/>
                <a:ea typeface="Lato"/>
                <a:cs typeface="Lato"/>
                <a:sym typeface="Lato"/>
              </a:rPr>
              <a:t>σ</a:t>
            </a:r>
            <a:endParaRPr sz="900">
              <a:latin typeface="Lato"/>
              <a:ea typeface="Lato"/>
              <a:cs typeface="Lato"/>
              <a:sym typeface="Lato"/>
            </a:endParaRPr>
          </a:p>
        </p:txBody>
      </p:sp>
      <p:sp>
        <p:nvSpPr>
          <p:cNvPr id="142" name="Google Shape;142;p21"/>
          <p:cNvSpPr/>
          <p:nvPr/>
        </p:nvSpPr>
        <p:spPr>
          <a:xfrm>
            <a:off x="3142764" y="2774011"/>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900">
                <a:solidFill>
                  <a:schemeClr val="dk2"/>
                </a:solidFill>
                <a:latin typeface="Lato"/>
                <a:ea typeface="Lato"/>
                <a:cs typeface="Lato"/>
                <a:sym typeface="Lato"/>
              </a:rPr>
              <a:t>σ</a:t>
            </a:r>
            <a:endParaRPr sz="900">
              <a:latin typeface="Lato"/>
              <a:ea typeface="Lato"/>
              <a:cs typeface="Lato"/>
              <a:sym typeface="Lato"/>
            </a:endParaRPr>
          </a:p>
        </p:txBody>
      </p:sp>
      <p:sp>
        <p:nvSpPr>
          <p:cNvPr id="143" name="Google Shape;143;p21"/>
          <p:cNvSpPr/>
          <p:nvPr/>
        </p:nvSpPr>
        <p:spPr>
          <a:xfrm>
            <a:off x="4094774" y="2774011"/>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latin typeface="Lato"/>
                <a:ea typeface="Lato"/>
                <a:cs typeface="Lato"/>
                <a:sym typeface="Lato"/>
              </a:rPr>
              <a:t>tanh</a:t>
            </a:r>
            <a:endParaRPr i="1" sz="900">
              <a:latin typeface="Lato"/>
              <a:ea typeface="Lato"/>
              <a:cs typeface="Lato"/>
              <a:sym typeface="Lato"/>
            </a:endParaRPr>
          </a:p>
        </p:txBody>
      </p:sp>
      <p:sp>
        <p:nvSpPr>
          <p:cNvPr id="144" name="Google Shape;144;p21"/>
          <p:cNvSpPr/>
          <p:nvPr/>
        </p:nvSpPr>
        <p:spPr>
          <a:xfrm>
            <a:off x="5046794" y="2774011"/>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900">
                <a:solidFill>
                  <a:schemeClr val="dk2"/>
                </a:solidFill>
                <a:latin typeface="Lato"/>
                <a:ea typeface="Lato"/>
                <a:cs typeface="Lato"/>
                <a:sym typeface="Lato"/>
              </a:rPr>
              <a:t>σ</a:t>
            </a:r>
            <a:endParaRPr sz="900">
              <a:latin typeface="Lato"/>
              <a:ea typeface="Lato"/>
              <a:cs typeface="Lato"/>
              <a:sym typeface="Lato"/>
            </a:endParaRPr>
          </a:p>
        </p:txBody>
      </p:sp>
      <p:sp>
        <p:nvSpPr>
          <p:cNvPr id="145" name="Google Shape;145;p21"/>
          <p:cNvSpPr/>
          <p:nvPr/>
        </p:nvSpPr>
        <p:spPr>
          <a:xfrm>
            <a:off x="5251248" y="3332386"/>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6" name="Google Shape;146;p21"/>
          <p:cNvCxnSpPr>
            <a:stCxn id="133" idx="6"/>
            <a:endCxn id="145" idx="2"/>
          </p:cNvCxnSpPr>
          <p:nvPr/>
        </p:nvCxnSpPr>
        <p:spPr>
          <a:xfrm>
            <a:off x="2415497" y="3353707"/>
            <a:ext cx="2835900" cy="600"/>
          </a:xfrm>
          <a:prstGeom prst="bentConnector3">
            <a:avLst>
              <a:gd fmla="val 49998" name="adj1"/>
            </a:avLst>
          </a:prstGeom>
          <a:noFill/>
          <a:ln cap="flat" cmpd="sng" w="9525">
            <a:solidFill>
              <a:schemeClr val="dk2"/>
            </a:solidFill>
            <a:prstDash val="solid"/>
            <a:round/>
            <a:headEnd len="med" w="med" type="none"/>
            <a:tailEnd len="med" w="med" type="none"/>
          </a:ln>
        </p:spPr>
      </p:cxnSp>
      <p:cxnSp>
        <p:nvCxnSpPr>
          <p:cNvPr id="147" name="Google Shape;147;p21"/>
          <p:cNvCxnSpPr>
            <a:endCxn id="144" idx="2"/>
          </p:cNvCxnSpPr>
          <p:nvPr/>
        </p:nvCxnSpPr>
        <p:spPr>
          <a:xfrm rot="10800000">
            <a:off x="5271794" y="3071911"/>
            <a:ext cx="1500" cy="258600"/>
          </a:xfrm>
          <a:prstGeom prst="straightConnector1">
            <a:avLst/>
          </a:prstGeom>
          <a:noFill/>
          <a:ln cap="flat" cmpd="sng" w="9525">
            <a:solidFill>
              <a:schemeClr val="dk2"/>
            </a:solidFill>
            <a:prstDash val="solid"/>
            <a:round/>
            <a:headEnd len="med" w="med" type="none"/>
            <a:tailEnd len="med" w="med" type="triangle"/>
          </a:ln>
        </p:spPr>
      </p:cxnSp>
      <p:sp>
        <p:nvSpPr>
          <p:cNvPr id="148" name="Google Shape;148;p21"/>
          <p:cNvSpPr/>
          <p:nvPr/>
        </p:nvSpPr>
        <p:spPr>
          <a:xfrm>
            <a:off x="4299239" y="3332637"/>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9" name="Google Shape;149;p21"/>
          <p:cNvSpPr/>
          <p:nvPr/>
        </p:nvSpPr>
        <p:spPr>
          <a:xfrm>
            <a:off x="3347229" y="3332637"/>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0" name="Google Shape;150;p21"/>
          <p:cNvSpPr/>
          <p:nvPr/>
        </p:nvSpPr>
        <p:spPr>
          <a:xfrm>
            <a:off x="2511294" y="3332637"/>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1" name="Google Shape;151;p21"/>
          <p:cNvCxnSpPr/>
          <p:nvPr/>
        </p:nvCxnSpPr>
        <p:spPr>
          <a:xfrm rot="10800000">
            <a:off x="2530710" y="3072289"/>
            <a:ext cx="2100" cy="2586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21"/>
          <p:cNvCxnSpPr>
            <a:endCxn id="142" idx="2"/>
          </p:cNvCxnSpPr>
          <p:nvPr/>
        </p:nvCxnSpPr>
        <p:spPr>
          <a:xfrm rot="10800000">
            <a:off x="3367764" y="3071911"/>
            <a:ext cx="2700" cy="25860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1"/>
          <p:cNvCxnSpPr>
            <a:endCxn id="143" idx="2"/>
          </p:cNvCxnSpPr>
          <p:nvPr/>
        </p:nvCxnSpPr>
        <p:spPr>
          <a:xfrm rot="10800000">
            <a:off x="4319774" y="3071911"/>
            <a:ext cx="1800" cy="262200"/>
          </a:xfrm>
          <a:prstGeom prst="straightConnector1">
            <a:avLst/>
          </a:prstGeom>
          <a:noFill/>
          <a:ln cap="flat" cmpd="sng" w="9525">
            <a:solidFill>
              <a:schemeClr val="dk2"/>
            </a:solidFill>
            <a:prstDash val="solid"/>
            <a:round/>
            <a:headEnd len="med" w="med" type="none"/>
            <a:tailEnd len="med" w="med" type="triangle"/>
          </a:ln>
        </p:spPr>
      </p:cxnSp>
      <p:sp>
        <p:nvSpPr>
          <p:cNvPr id="154" name="Google Shape;154;p21"/>
          <p:cNvSpPr txBox="1"/>
          <p:nvPr/>
        </p:nvSpPr>
        <p:spPr>
          <a:xfrm>
            <a:off x="1453361" y="1764383"/>
            <a:ext cx="4500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a:t>
            </a:r>
            <a:r>
              <a:rPr baseline="-25000" lang="en">
                <a:latin typeface="Lato"/>
                <a:ea typeface="Lato"/>
                <a:cs typeface="Lato"/>
                <a:sym typeface="Lato"/>
              </a:rPr>
              <a:t>t-1</a:t>
            </a:r>
            <a:endParaRPr baseline="-25000">
              <a:latin typeface="Lato"/>
              <a:ea typeface="Lato"/>
              <a:cs typeface="Lato"/>
              <a:sym typeface="Lato"/>
            </a:endParaRPr>
          </a:p>
        </p:txBody>
      </p:sp>
      <p:sp>
        <p:nvSpPr>
          <p:cNvPr id="155" name="Google Shape;155;p21"/>
          <p:cNvSpPr/>
          <p:nvPr/>
        </p:nvSpPr>
        <p:spPr>
          <a:xfrm>
            <a:off x="2389606" y="1799415"/>
            <a:ext cx="284100" cy="297900"/>
          </a:xfrm>
          <a:prstGeom prst="flowChartSummingJunction">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6" name="Google Shape;156;p21"/>
          <p:cNvCxnSpPr>
            <a:stCxn id="141" idx="0"/>
            <a:endCxn id="155" idx="4"/>
          </p:cNvCxnSpPr>
          <p:nvPr/>
        </p:nvCxnSpPr>
        <p:spPr>
          <a:xfrm rot="10800000">
            <a:off x="2531550" y="2097211"/>
            <a:ext cx="300" cy="676800"/>
          </a:xfrm>
          <a:prstGeom prst="straightConnector1">
            <a:avLst/>
          </a:prstGeom>
          <a:noFill/>
          <a:ln cap="flat" cmpd="sng" w="9525">
            <a:solidFill>
              <a:schemeClr val="dk2"/>
            </a:solidFill>
            <a:prstDash val="solid"/>
            <a:round/>
            <a:headEnd len="med" w="med" type="none"/>
            <a:tailEnd len="med" w="med" type="triangle"/>
          </a:ln>
        </p:spPr>
      </p:cxnSp>
      <p:sp>
        <p:nvSpPr>
          <p:cNvPr id="157" name="Google Shape;157;p21"/>
          <p:cNvSpPr txBox="1"/>
          <p:nvPr/>
        </p:nvSpPr>
        <p:spPr>
          <a:xfrm>
            <a:off x="2223591" y="2285824"/>
            <a:ext cx="450000" cy="16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f</a:t>
            </a:r>
            <a:r>
              <a:rPr baseline="-25000" lang="en">
                <a:latin typeface="Lato"/>
                <a:ea typeface="Lato"/>
                <a:cs typeface="Lato"/>
                <a:sym typeface="Lato"/>
              </a:rPr>
              <a:t>t</a:t>
            </a:r>
            <a:endParaRPr baseline="-25000">
              <a:latin typeface="Lato"/>
              <a:ea typeface="Lato"/>
              <a:cs typeface="Lato"/>
              <a:sym typeface="Lato"/>
            </a:endParaRPr>
          </a:p>
        </p:txBody>
      </p:sp>
      <p:sp>
        <p:nvSpPr>
          <p:cNvPr id="158" name="Google Shape;158;p21"/>
          <p:cNvSpPr/>
          <p:nvPr/>
        </p:nvSpPr>
        <p:spPr>
          <a:xfrm>
            <a:off x="4177588" y="1808046"/>
            <a:ext cx="284100" cy="292800"/>
          </a:xfrm>
          <a:prstGeom prst="flowChar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9" name="Google Shape;159;p21"/>
          <p:cNvSpPr/>
          <p:nvPr/>
        </p:nvSpPr>
        <p:spPr>
          <a:xfrm>
            <a:off x="4177591" y="2288549"/>
            <a:ext cx="284100" cy="297900"/>
          </a:xfrm>
          <a:prstGeom prst="flowChartSummingJunction">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60" name="Google Shape;160;p21"/>
          <p:cNvCxnSpPr>
            <a:stCxn id="155" idx="6"/>
            <a:endCxn id="158" idx="2"/>
          </p:cNvCxnSpPr>
          <p:nvPr/>
        </p:nvCxnSpPr>
        <p:spPr>
          <a:xfrm>
            <a:off x="2673706" y="1948365"/>
            <a:ext cx="1503900" cy="6000"/>
          </a:xfrm>
          <a:prstGeom prst="straightConnector1">
            <a:avLst/>
          </a:prstGeom>
          <a:noFill/>
          <a:ln cap="flat" cmpd="sng" w="9525">
            <a:solidFill>
              <a:schemeClr val="dk2"/>
            </a:solidFill>
            <a:prstDash val="solid"/>
            <a:round/>
            <a:headEnd len="med" w="med" type="none"/>
            <a:tailEnd len="med" w="med" type="triangle"/>
          </a:ln>
        </p:spPr>
      </p:cxnSp>
      <p:cxnSp>
        <p:nvCxnSpPr>
          <p:cNvPr id="161" name="Google Shape;161;p21"/>
          <p:cNvCxnSpPr>
            <a:stCxn id="154" idx="3"/>
            <a:endCxn id="155" idx="2"/>
          </p:cNvCxnSpPr>
          <p:nvPr/>
        </p:nvCxnSpPr>
        <p:spPr>
          <a:xfrm>
            <a:off x="1903361" y="1948433"/>
            <a:ext cx="486300" cy="0"/>
          </a:xfrm>
          <a:prstGeom prst="straightConnector1">
            <a:avLst/>
          </a:prstGeom>
          <a:noFill/>
          <a:ln cap="flat" cmpd="sng" w="9525">
            <a:solidFill>
              <a:schemeClr val="dk2"/>
            </a:solidFill>
            <a:prstDash val="solid"/>
            <a:round/>
            <a:headEnd len="med" w="med" type="none"/>
            <a:tailEnd len="med" w="med" type="triangle"/>
          </a:ln>
        </p:spPr>
      </p:cxnSp>
      <p:cxnSp>
        <p:nvCxnSpPr>
          <p:cNvPr id="162" name="Google Shape;162;p21"/>
          <p:cNvCxnSpPr>
            <a:stCxn id="143" idx="0"/>
            <a:endCxn id="159" idx="4"/>
          </p:cNvCxnSpPr>
          <p:nvPr/>
        </p:nvCxnSpPr>
        <p:spPr>
          <a:xfrm rot="10800000">
            <a:off x="4319774" y="2586511"/>
            <a:ext cx="0" cy="187500"/>
          </a:xfrm>
          <a:prstGeom prst="straightConnector1">
            <a:avLst/>
          </a:prstGeom>
          <a:noFill/>
          <a:ln cap="flat" cmpd="sng" w="9525">
            <a:solidFill>
              <a:schemeClr val="dk2"/>
            </a:solidFill>
            <a:prstDash val="solid"/>
            <a:round/>
            <a:headEnd len="med" w="med" type="none"/>
            <a:tailEnd len="med" w="med" type="triangle"/>
          </a:ln>
        </p:spPr>
      </p:cxnSp>
      <p:cxnSp>
        <p:nvCxnSpPr>
          <p:cNvPr id="163" name="Google Shape;163;p21"/>
          <p:cNvCxnSpPr>
            <a:stCxn id="159" idx="0"/>
            <a:endCxn id="158" idx="4"/>
          </p:cNvCxnSpPr>
          <p:nvPr/>
        </p:nvCxnSpPr>
        <p:spPr>
          <a:xfrm rot="10800000">
            <a:off x="4319641" y="2100749"/>
            <a:ext cx="0" cy="187800"/>
          </a:xfrm>
          <a:prstGeom prst="straightConnector1">
            <a:avLst/>
          </a:prstGeom>
          <a:noFill/>
          <a:ln cap="flat" cmpd="sng" w="9525">
            <a:solidFill>
              <a:schemeClr val="dk2"/>
            </a:solidFill>
            <a:prstDash val="solid"/>
            <a:round/>
            <a:headEnd len="med" w="med" type="none"/>
            <a:tailEnd len="med" w="med" type="triangle"/>
          </a:ln>
        </p:spPr>
      </p:cxnSp>
      <p:sp>
        <p:nvSpPr>
          <p:cNvPr id="164" name="Google Shape;164;p21"/>
          <p:cNvSpPr txBox="1"/>
          <p:nvPr/>
        </p:nvSpPr>
        <p:spPr>
          <a:xfrm>
            <a:off x="6983797" y="1771483"/>
            <a:ext cx="4500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a:t>
            </a:r>
            <a:r>
              <a:rPr baseline="-25000" lang="en">
                <a:latin typeface="Lato"/>
                <a:ea typeface="Lato"/>
                <a:cs typeface="Lato"/>
                <a:sym typeface="Lato"/>
              </a:rPr>
              <a:t>t</a:t>
            </a:r>
            <a:endParaRPr baseline="-25000">
              <a:latin typeface="Lato"/>
              <a:ea typeface="Lato"/>
              <a:cs typeface="Lato"/>
              <a:sym typeface="Lato"/>
            </a:endParaRPr>
          </a:p>
        </p:txBody>
      </p:sp>
      <p:cxnSp>
        <p:nvCxnSpPr>
          <p:cNvPr id="165" name="Google Shape;165;p21"/>
          <p:cNvCxnSpPr>
            <a:stCxn id="158" idx="6"/>
            <a:endCxn id="164" idx="1"/>
          </p:cNvCxnSpPr>
          <p:nvPr/>
        </p:nvCxnSpPr>
        <p:spPr>
          <a:xfrm>
            <a:off x="4461688" y="1954446"/>
            <a:ext cx="2522100" cy="1200"/>
          </a:xfrm>
          <a:prstGeom prst="straightConnector1">
            <a:avLst/>
          </a:prstGeom>
          <a:noFill/>
          <a:ln cap="flat" cmpd="sng" w="9525">
            <a:solidFill>
              <a:schemeClr val="dk2"/>
            </a:solidFill>
            <a:prstDash val="solid"/>
            <a:round/>
            <a:headEnd len="med" w="med" type="none"/>
            <a:tailEnd len="med" w="med" type="triangle"/>
          </a:ln>
        </p:spPr>
      </p:cxnSp>
      <p:sp>
        <p:nvSpPr>
          <p:cNvPr id="166" name="Google Shape;166;p21"/>
          <p:cNvSpPr/>
          <p:nvPr/>
        </p:nvSpPr>
        <p:spPr>
          <a:xfrm>
            <a:off x="5799683" y="2152817"/>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latin typeface="Lato"/>
                <a:ea typeface="Lato"/>
                <a:cs typeface="Lato"/>
                <a:sym typeface="Lato"/>
              </a:rPr>
              <a:t>tanh</a:t>
            </a:r>
            <a:endParaRPr i="1" sz="900">
              <a:latin typeface="Lato"/>
              <a:ea typeface="Lato"/>
              <a:cs typeface="Lato"/>
              <a:sym typeface="Lato"/>
            </a:endParaRPr>
          </a:p>
        </p:txBody>
      </p:sp>
      <p:sp>
        <p:nvSpPr>
          <p:cNvPr id="167" name="Google Shape;167;p21"/>
          <p:cNvSpPr/>
          <p:nvPr/>
        </p:nvSpPr>
        <p:spPr>
          <a:xfrm>
            <a:off x="5882698" y="2774014"/>
            <a:ext cx="284100" cy="297900"/>
          </a:xfrm>
          <a:prstGeom prst="flowChartSummingJunction">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68" name="Google Shape;168;p21"/>
          <p:cNvCxnSpPr>
            <a:stCxn id="144" idx="3"/>
            <a:endCxn id="167" idx="2"/>
          </p:cNvCxnSpPr>
          <p:nvPr/>
        </p:nvCxnSpPr>
        <p:spPr>
          <a:xfrm>
            <a:off x="5496794" y="2922961"/>
            <a:ext cx="385800" cy="0"/>
          </a:xfrm>
          <a:prstGeom prst="straightConnector1">
            <a:avLst/>
          </a:prstGeom>
          <a:noFill/>
          <a:ln cap="flat" cmpd="sng" w="9525">
            <a:solidFill>
              <a:schemeClr val="dk2"/>
            </a:solidFill>
            <a:prstDash val="solid"/>
            <a:round/>
            <a:headEnd len="med" w="med" type="none"/>
            <a:tailEnd len="med" w="med" type="triangle"/>
          </a:ln>
        </p:spPr>
      </p:cxnSp>
      <p:sp>
        <p:nvSpPr>
          <p:cNvPr id="169" name="Google Shape;169;p21"/>
          <p:cNvSpPr txBox="1"/>
          <p:nvPr/>
        </p:nvSpPr>
        <p:spPr>
          <a:xfrm>
            <a:off x="5402833" y="2571907"/>
            <a:ext cx="450000" cy="16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o</a:t>
            </a:r>
            <a:r>
              <a:rPr baseline="-25000" lang="en">
                <a:latin typeface="Lato"/>
                <a:ea typeface="Lato"/>
                <a:cs typeface="Lato"/>
                <a:sym typeface="Lato"/>
              </a:rPr>
              <a:t>t</a:t>
            </a:r>
            <a:endParaRPr baseline="-25000">
              <a:latin typeface="Lato"/>
              <a:ea typeface="Lato"/>
              <a:cs typeface="Lato"/>
              <a:sym typeface="Lato"/>
            </a:endParaRPr>
          </a:p>
        </p:txBody>
      </p:sp>
      <p:sp>
        <p:nvSpPr>
          <p:cNvPr id="170" name="Google Shape;170;p21"/>
          <p:cNvSpPr/>
          <p:nvPr/>
        </p:nvSpPr>
        <p:spPr>
          <a:xfrm>
            <a:off x="6004348" y="1926913"/>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71" name="Google Shape;171;p21"/>
          <p:cNvCxnSpPr>
            <a:stCxn id="170" idx="4"/>
            <a:endCxn id="166" idx="0"/>
          </p:cNvCxnSpPr>
          <p:nvPr/>
        </p:nvCxnSpPr>
        <p:spPr>
          <a:xfrm>
            <a:off x="6024748" y="1969813"/>
            <a:ext cx="0" cy="183000"/>
          </a:xfrm>
          <a:prstGeom prst="straightConnector1">
            <a:avLst/>
          </a:prstGeom>
          <a:noFill/>
          <a:ln cap="flat" cmpd="sng" w="9525">
            <a:solidFill>
              <a:schemeClr val="dk2"/>
            </a:solidFill>
            <a:prstDash val="solid"/>
            <a:round/>
            <a:headEnd len="med" w="med" type="none"/>
            <a:tailEnd len="med" w="med" type="triangle"/>
          </a:ln>
        </p:spPr>
      </p:cxnSp>
      <p:cxnSp>
        <p:nvCxnSpPr>
          <p:cNvPr id="172" name="Google Shape;172;p21"/>
          <p:cNvCxnSpPr>
            <a:stCxn id="166" idx="2"/>
            <a:endCxn id="167" idx="0"/>
          </p:cNvCxnSpPr>
          <p:nvPr/>
        </p:nvCxnSpPr>
        <p:spPr>
          <a:xfrm>
            <a:off x="6024683" y="2450717"/>
            <a:ext cx="0" cy="323400"/>
          </a:xfrm>
          <a:prstGeom prst="straightConnector1">
            <a:avLst/>
          </a:prstGeom>
          <a:noFill/>
          <a:ln cap="flat" cmpd="sng" w="9525">
            <a:solidFill>
              <a:schemeClr val="dk2"/>
            </a:solidFill>
            <a:prstDash val="solid"/>
            <a:round/>
            <a:headEnd len="med" w="med" type="none"/>
            <a:tailEnd len="med" w="med" type="triangle"/>
          </a:ln>
        </p:spPr>
      </p:cxnSp>
      <p:cxnSp>
        <p:nvCxnSpPr>
          <p:cNvPr id="173" name="Google Shape;173;p21"/>
          <p:cNvCxnSpPr>
            <a:stCxn id="167" idx="6"/>
            <a:endCxn id="137" idx="1"/>
          </p:cNvCxnSpPr>
          <p:nvPr/>
        </p:nvCxnSpPr>
        <p:spPr>
          <a:xfrm>
            <a:off x="6166798" y="2922964"/>
            <a:ext cx="816900" cy="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p21"/>
          <p:cNvSpPr/>
          <p:nvPr/>
        </p:nvSpPr>
        <p:spPr>
          <a:xfrm>
            <a:off x="3348359" y="2416106"/>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75" name="Google Shape;175;p21"/>
          <p:cNvCxnSpPr>
            <a:stCxn id="174" idx="4"/>
            <a:endCxn id="142" idx="0"/>
          </p:cNvCxnSpPr>
          <p:nvPr/>
        </p:nvCxnSpPr>
        <p:spPr>
          <a:xfrm flipH="1">
            <a:off x="3367859" y="2459006"/>
            <a:ext cx="900" cy="315000"/>
          </a:xfrm>
          <a:prstGeom prst="straightConnector1">
            <a:avLst/>
          </a:prstGeom>
          <a:noFill/>
          <a:ln cap="flat" cmpd="sng" w="9525">
            <a:solidFill>
              <a:schemeClr val="dk2"/>
            </a:solidFill>
            <a:prstDash val="solid"/>
            <a:round/>
            <a:headEnd len="med" w="med" type="none"/>
            <a:tailEnd len="med" w="med" type="none"/>
          </a:ln>
        </p:spPr>
      </p:cxnSp>
      <p:sp>
        <p:nvSpPr>
          <p:cNvPr id="176" name="Google Shape;176;p21"/>
          <p:cNvSpPr txBox="1"/>
          <p:nvPr/>
        </p:nvSpPr>
        <p:spPr>
          <a:xfrm>
            <a:off x="3558294" y="2063365"/>
            <a:ext cx="450000" cy="29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i</a:t>
            </a:r>
            <a:r>
              <a:rPr baseline="-25000" lang="en">
                <a:latin typeface="Lato"/>
                <a:ea typeface="Lato"/>
                <a:cs typeface="Lato"/>
                <a:sym typeface="Lato"/>
              </a:rPr>
              <a:t>t</a:t>
            </a:r>
            <a:endParaRPr baseline="-25000">
              <a:latin typeface="Lato"/>
              <a:ea typeface="Lato"/>
              <a:cs typeface="Lato"/>
              <a:sym typeface="Lato"/>
            </a:endParaRPr>
          </a:p>
        </p:txBody>
      </p:sp>
      <p:sp>
        <p:nvSpPr>
          <p:cNvPr id="177" name="Google Shape;177;p21"/>
          <p:cNvSpPr txBox="1"/>
          <p:nvPr/>
        </p:nvSpPr>
        <p:spPr>
          <a:xfrm>
            <a:off x="4303730" y="2460049"/>
            <a:ext cx="4500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Ĉ</a:t>
            </a:r>
            <a:r>
              <a:rPr baseline="-25000" lang="en">
                <a:latin typeface="Lato"/>
                <a:ea typeface="Lato"/>
                <a:cs typeface="Lato"/>
                <a:sym typeface="Lato"/>
              </a:rPr>
              <a:t>t</a:t>
            </a:r>
            <a:endParaRPr baseline="-25000">
              <a:latin typeface="Lato"/>
              <a:ea typeface="Lato"/>
              <a:cs typeface="Lato"/>
              <a:sym typeface="Lato"/>
            </a:endParaRPr>
          </a:p>
        </p:txBody>
      </p:sp>
      <p:sp>
        <p:nvSpPr>
          <p:cNvPr id="178" name="Google Shape;178;p21"/>
          <p:cNvSpPr txBox="1"/>
          <p:nvPr/>
        </p:nvSpPr>
        <p:spPr>
          <a:xfrm>
            <a:off x="4303730" y="2377444"/>
            <a:ext cx="450000" cy="18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baseline="-25000">
              <a:latin typeface="Lato"/>
              <a:ea typeface="Lato"/>
              <a:cs typeface="Lato"/>
              <a:sym typeface="Lato"/>
            </a:endParaRPr>
          </a:p>
        </p:txBody>
      </p:sp>
      <p:cxnSp>
        <p:nvCxnSpPr>
          <p:cNvPr id="179" name="Google Shape;179;p21"/>
          <p:cNvCxnSpPr>
            <a:endCxn id="136" idx="2"/>
          </p:cNvCxnSpPr>
          <p:nvPr/>
        </p:nvCxnSpPr>
        <p:spPr>
          <a:xfrm rot="10800000">
            <a:off x="6558161" y="1473775"/>
            <a:ext cx="0" cy="1443600"/>
          </a:xfrm>
          <a:prstGeom prst="straightConnector1">
            <a:avLst/>
          </a:prstGeom>
          <a:noFill/>
          <a:ln cap="flat" cmpd="sng" w="9525">
            <a:solidFill>
              <a:schemeClr val="dk2"/>
            </a:solidFill>
            <a:prstDash val="solid"/>
            <a:round/>
            <a:headEnd len="med" w="med" type="none"/>
            <a:tailEnd len="med" w="med" type="triangle"/>
          </a:ln>
        </p:spPr>
      </p:cxnSp>
      <p:cxnSp>
        <p:nvCxnSpPr>
          <p:cNvPr id="180" name="Google Shape;180;p21"/>
          <p:cNvCxnSpPr>
            <a:stCxn id="174" idx="6"/>
            <a:endCxn id="159" idx="2"/>
          </p:cNvCxnSpPr>
          <p:nvPr/>
        </p:nvCxnSpPr>
        <p:spPr>
          <a:xfrm>
            <a:off x="3389159" y="2437556"/>
            <a:ext cx="788400" cy="0"/>
          </a:xfrm>
          <a:prstGeom prst="straightConnector1">
            <a:avLst/>
          </a:prstGeom>
          <a:noFill/>
          <a:ln cap="flat" cmpd="sng" w="9525">
            <a:solidFill>
              <a:schemeClr val="dk2"/>
            </a:solidFill>
            <a:prstDash val="solid"/>
            <a:round/>
            <a:headEnd len="med" w="med" type="none"/>
            <a:tailEnd len="med" w="med" type="triangle"/>
          </a:ln>
        </p:spPr>
      </p:cxnSp>
      <p:sp>
        <p:nvSpPr>
          <p:cNvPr id="181" name="Google Shape;181;p21"/>
          <p:cNvSpPr/>
          <p:nvPr/>
        </p:nvSpPr>
        <p:spPr>
          <a:xfrm>
            <a:off x="6537748" y="2901488"/>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2" name="Google Shape;182;p21"/>
          <p:cNvSpPr txBox="1"/>
          <p:nvPr/>
        </p:nvSpPr>
        <p:spPr>
          <a:xfrm>
            <a:off x="1143000" y="4442950"/>
            <a:ext cx="6858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3"/>
              </a:rPr>
              <a:t>Hochreiter, Sepp &amp; Schmidhuber, Jürgen. (1997). Long Short-term Memory. Neural computation. 9. 1735-80. 10.1162/neco.1997.9.8.1735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6" name="Shape 186"/>
        <p:cNvGrpSpPr/>
        <p:nvPr/>
      </p:nvGrpSpPr>
      <p:grpSpPr>
        <a:xfrm>
          <a:off x="0" y="0"/>
          <a:ext cx="0" cy="0"/>
          <a:chOff x="0" y="0"/>
          <a:chExt cx="0" cy="0"/>
        </a:xfrm>
      </p:grpSpPr>
      <p:sp>
        <p:nvSpPr>
          <p:cNvPr id="187" name="Google Shape;187;p22"/>
          <p:cNvSpPr/>
          <p:nvPr/>
        </p:nvSpPr>
        <p:spPr>
          <a:xfrm>
            <a:off x="3140735" y="1614853"/>
            <a:ext cx="3022200" cy="20853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8" name="Google Shape;188;p22"/>
          <p:cNvSpPr/>
          <p:nvPr/>
        </p:nvSpPr>
        <p:spPr>
          <a:xfrm>
            <a:off x="4853986" y="1867219"/>
            <a:ext cx="564900" cy="357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900">
                <a:solidFill>
                  <a:schemeClr val="dk2"/>
                </a:solidFill>
                <a:latin typeface="Lato"/>
                <a:ea typeface="Lato"/>
                <a:cs typeface="Lato"/>
                <a:sym typeface="Lato"/>
              </a:rPr>
              <a:t>σ</a:t>
            </a:r>
            <a:endParaRPr sz="900">
              <a:latin typeface="Lato"/>
              <a:ea typeface="Lato"/>
              <a:cs typeface="Lato"/>
              <a:sym typeface="Lato"/>
            </a:endParaRPr>
          </a:p>
        </p:txBody>
      </p:sp>
      <p:sp>
        <p:nvSpPr>
          <p:cNvPr id="189" name="Google Shape;189;p22"/>
          <p:cNvSpPr/>
          <p:nvPr/>
        </p:nvSpPr>
        <p:spPr>
          <a:xfrm>
            <a:off x="4178134" y="1860754"/>
            <a:ext cx="357000" cy="351000"/>
          </a:xfrm>
          <a:prstGeom prst="flowChar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0" name="Google Shape;190;p22"/>
          <p:cNvSpPr txBox="1"/>
          <p:nvPr/>
        </p:nvSpPr>
        <p:spPr>
          <a:xfrm>
            <a:off x="2029438" y="1825063"/>
            <a:ext cx="564900" cy="4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h</a:t>
            </a:r>
            <a:r>
              <a:rPr baseline="-25000" lang="en">
                <a:latin typeface="Lato"/>
                <a:ea typeface="Lato"/>
                <a:cs typeface="Lato"/>
                <a:sym typeface="Lato"/>
              </a:rPr>
              <a:t>t-1</a:t>
            </a:r>
            <a:endParaRPr baseline="-25000">
              <a:latin typeface="Lato"/>
              <a:ea typeface="Lato"/>
              <a:cs typeface="Lato"/>
              <a:sym typeface="Lato"/>
            </a:endParaRPr>
          </a:p>
        </p:txBody>
      </p:sp>
      <p:sp>
        <p:nvSpPr>
          <p:cNvPr id="191" name="Google Shape;191;p22"/>
          <p:cNvSpPr txBox="1"/>
          <p:nvPr/>
        </p:nvSpPr>
        <p:spPr>
          <a:xfrm>
            <a:off x="3282078" y="3832598"/>
            <a:ext cx="564900" cy="1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x</a:t>
            </a:r>
            <a:r>
              <a:rPr baseline="-25000" lang="en">
                <a:latin typeface="Lato"/>
                <a:ea typeface="Lato"/>
                <a:cs typeface="Lato"/>
                <a:sym typeface="Lato"/>
              </a:rPr>
              <a:t>t</a:t>
            </a:r>
            <a:endParaRPr baseline="-25000">
              <a:latin typeface="Lato"/>
              <a:ea typeface="Lato"/>
              <a:cs typeface="Lato"/>
              <a:sym typeface="Lato"/>
            </a:endParaRPr>
          </a:p>
        </p:txBody>
      </p:sp>
      <p:sp>
        <p:nvSpPr>
          <p:cNvPr id="192" name="Google Shape;192;p22"/>
          <p:cNvSpPr txBox="1"/>
          <p:nvPr/>
        </p:nvSpPr>
        <p:spPr>
          <a:xfrm>
            <a:off x="5460550" y="1113212"/>
            <a:ext cx="564900" cy="35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y</a:t>
            </a:r>
            <a:r>
              <a:rPr baseline="-25000" lang="en">
                <a:latin typeface="Lato"/>
                <a:ea typeface="Lato"/>
                <a:cs typeface="Lato"/>
                <a:sym typeface="Lato"/>
              </a:rPr>
              <a:t>t</a:t>
            </a:r>
            <a:endParaRPr baseline="-25000">
              <a:latin typeface="Lato"/>
              <a:ea typeface="Lato"/>
              <a:cs typeface="Lato"/>
              <a:sym typeface="Lato"/>
            </a:endParaRPr>
          </a:p>
        </p:txBody>
      </p:sp>
      <p:sp>
        <p:nvSpPr>
          <p:cNvPr id="193" name="Google Shape;193;p22"/>
          <p:cNvSpPr txBox="1"/>
          <p:nvPr/>
        </p:nvSpPr>
        <p:spPr>
          <a:xfrm>
            <a:off x="6303838" y="1800162"/>
            <a:ext cx="564900" cy="49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h</a:t>
            </a:r>
            <a:r>
              <a:rPr baseline="-25000" lang="en">
                <a:latin typeface="Lato"/>
                <a:ea typeface="Lato"/>
                <a:cs typeface="Lato"/>
                <a:sym typeface="Lato"/>
              </a:rPr>
              <a:t>t</a:t>
            </a:r>
            <a:endParaRPr baseline="-25000">
              <a:latin typeface="Lato"/>
              <a:ea typeface="Lato"/>
              <a:cs typeface="Lato"/>
              <a:sym typeface="Lato"/>
            </a:endParaRPr>
          </a:p>
        </p:txBody>
      </p:sp>
      <p:cxnSp>
        <p:nvCxnSpPr>
          <p:cNvPr id="194" name="Google Shape;194;p22"/>
          <p:cNvCxnSpPr>
            <a:stCxn id="189" idx="6"/>
            <a:endCxn id="188" idx="1"/>
          </p:cNvCxnSpPr>
          <p:nvPr/>
        </p:nvCxnSpPr>
        <p:spPr>
          <a:xfrm>
            <a:off x="4535134" y="2036254"/>
            <a:ext cx="318900" cy="96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p22"/>
          <p:cNvCxnSpPr>
            <a:stCxn id="188" idx="3"/>
            <a:endCxn id="193" idx="1"/>
          </p:cNvCxnSpPr>
          <p:nvPr/>
        </p:nvCxnSpPr>
        <p:spPr>
          <a:xfrm>
            <a:off x="5418886" y="2045719"/>
            <a:ext cx="885000" cy="0"/>
          </a:xfrm>
          <a:prstGeom prst="straightConnector1">
            <a:avLst/>
          </a:prstGeom>
          <a:noFill/>
          <a:ln cap="flat" cmpd="sng" w="9525">
            <a:solidFill>
              <a:schemeClr val="dk2"/>
            </a:solidFill>
            <a:prstDash val="solid"/>
            <a:round/>
            <a:headEnd len="med" w="med" type="none"/>
            <a:tailEnd len="med" w="med" type="triangle"/>
          </a:ln>
        </p:spPr>
      </p:cxnSp>
      <p:cxnSp>
        <p:nvCxnSpPr>
          <p:cNvPr id="196" name="Google Shape;196;p22"/>
          <p:cNvCxnSpPr>
            <a:stCxn id="190" idx="3"/>
            <a:endCxn id="189" idx="2"/>
          </p:cNvCxnSpPr>
          <p:nvPr/>
        </p:nvCxnSpPr>
        <p:spPr>
          <a:xfrm flipH="1" rot="10800000">
            <a:off x="2594338" y="2036113"/>
            <a:ext cx="1583700" cy="9600"/>
          </a:xfrm>
          <a:prstGeom prst="straightConnector1">
            <a:avLst/>
          </a:prstGeom>
          <a:noFill/>
          <a:ln cap="flat" cmpd="sng" w="9525">
            <a:solidFill>
              <a:schemeClr val="dk2"/>
            </a:solidFill>
            <a:prstDash val="solid"/>
            <a:round/>
            <a:headEnd len="med" w="med" type="none"/>
            <a:tailEnd len="med" w="med" type="triangle"/>
          </a:ln>
        </p:spPr>
      </p:cxnSp>
      <p:sp>
        <p:nvSpPr>
          <p:cNvPr id="197" name="Google Shape;197;p22"/>
          <p:cNvSpPr txBox="1"/>
          <p:nvPr>
            <p:ph idx="4294967295" type="title"/>
          </p:nvPr>
        </p:nvSpPr>
        <p:spPr>
          <a:xfrm>
            <a:off x="1973400" y="-27300"/>
            <a:ext cx="51972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600">
                <a:solidFill>
                  <a:schemeClr val="dk1"/>
                </a:solidFill>
              </a:rPr>
              <a:t>Momentum RNN</a:t>
            </a:r>
            <a:endParaRPr sz="2400"/>
          </a:p>
        </p:txBody>
      </p:sp>
      <p:sp>
        <p:nvSpPr>
          <p:cNvPr id="198" name="Google Shape;198;p22"/>
          <p:cNvSpPr txBox="1"/>
          <p:nvPr/>
        </p:nvSpPr>
        <p:spPr>
          <a:xfrm>
            <a:off x="2029438" y="2653813"/>
            <a:ext cx="564900" cy="4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v</a:t>
            </a:r>
            <a:r>
              <a:rPr baseline="-25000" lang="en">
                <a:latin typeface="Lato"/>
                <a:ea typeface="Lato"/>
                <a:cs typeface="Lato"/>
                <a:sym typeface="Lato"/>
              </a:rPr>
              <a:t>t-1</a:t>
            </a:r>
            <a:endParaRPr baseline="-25000">
              <a:latin typeface="Lato"/>
              <a:ea typeface="Lato"/>
              <a:cs typeface="Lato"/>
              <a:sym typeface="Lato"/>
            </a:endParaRPr>
          </a:p>
        </p:txBody>
      </p:sp>
      <p:sp>
        <p:nvSpPr>
          <p:cNvPr id="199" name="Google Shape;199;p22"/>
          <p:cNvSpPr/>
          <p:nvPr/>
        </p:nvSpPr>
        <p:spPr>
          <a:xfrm>
            <a:off x="3386034" y="2698954"/>
            <a:ext cx="357000" cy="351000"/>
          </a:xfrm>
          <a:prstGeom prst="flowChar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0" name="Google Shape;200;p22"/>
          <p:cNvCxnSpPr>
            <a:stCxn id="198" idx="3"/>
            <a:endCxn id="199" idx="2"/>
          </p:cNvCxnSpPr>
          <p:nvPr/>
        </p:nvCxnSpPr>
        <p:spPr>
          <a:xfrm>
            <a:off x="2594338" y="2874463"/>
            <a:ext cx="791700" cy="0"/>
          </a:xfrm>
          <a:prstGeom prst="straightConnector1">
            <a:avLst/>
          </a:prstGeom>
          <a:noFill/>
          <a:ln cap="flat" cmpd="sng" w="9525">
            <a:solidFill>
              <a:schemeClr val="dk2"/>
            </a:solidFill>
            <a:prstDash val="solid"/>
            <a:round/>
            <a:headEnd len="med" w="med" type="none"/>
            <a:tailEnd len="med" w="med" type="triangle"/>
          </a:ln>
        </p:spPr>
      </p:cxnSp>
      <p:cxnSp>
        <p:nvCxnSpPr>
          <p:cNvPr id="201" name="Google Shape;201;p22"/>
          <p:cNvCxnSpPr>
            <a:stCxn id="191" idx="0"/>
            <a:endCxn id="199" idx="4"/>
          </p:cNvCxnSpPr>
          <p:nvPr/>
        </p:nvCxnSpPr>
        <p:spPr>
          <a:xfrm rot="10800000">
            <a:off x="3564528" y="3049898"/>
            <a:ext cx="0" cy="782700"/>
          </a:xfrm>
          <a:prstGeom prst="straightConnector1">
            <a:avLst/>
          </a:prstGeom>
          <a:noFill/>
          <a:ln cap="flat" cmpd="sng" w="9525">
            <a:solidFill>
              <a:schemeClr val="dk2"/>
            </a:solidFill>
            <a:prstDash val="solid"/>
            <a:round/>
            <a:headEnd len="med" w="med" type="none"/>
            <a:tailEnd len="med" w="med" type="triangle"/>
          </a:ln>
        </p:spPr>
      </p:cxnSp>
      <p:sp>
        <p:nvSpPr>
          <p:cNvPr id="202" name="Google Shape;202;p22"/>
          <p:cNvSpPr/>
          <p:nvPr/>
        </p:nvSpPr>
        <p:spPr>
          <a:xfrm>
            <a:off x="4330988" y="2848813"/>
            <a:ext cx="51300" cy="51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3" name="Google Shape;203;p22"/>
          <p:cNvCxnSpPr>
            <a:endCxn id="202" idx="2"/>
          </p:cNvCxnSpPr>
          <p:nvPr/>
        </p:nvCxnSpPr>
        <p:spPr>
          <a:xfrm>
            <a:off x="3397988" y="2874463"/>
            <a:ext cx="933000" cy="0"/>
          </a:xfrm>
          <a:prstGeom prst="straightConnector1">
            <a:avLst/>
          </a:prstGeom>
          <a:noFill/>
          <a:ln cap="flat" cmpd="sng" w="9525">
            <a:solidFill>
              <a:schemeClr val="dk2"/>
            </a:solidFill>
            <a:prstDash val="solid"/>
            <a:round/>
            <a:headEnd len="med" w="med" type="none"/>
            <a:tailEnd len="med" w="med" type="none"/>
          </a:ln>
        </p:spPr>
      </p:cxnSp>
      <p:cxnSp>
        <p:nvCxnSpPr>
          <p:cNvPr id="204" name="Google Shape;204;p22"/>
          <p:cNvCxnSpPr>
            <a:stCxn id="202" idx="0"/>
            <a:endCxn id="189" idx="4"/>
          </p:cNvCxnSpPr>
          <p:nvPr/>
        </p:nvCxnSpPr>
        <p:spPr>
          <a:xfrm rot="10800000">
            <a:off x="4356638" y="2211613"/>
            <a:ext cx="0" cy="637200"/>
          </a:xfrm>
          <a:prstGeom prst="straightConnector1">
            <a:avLst/>
          </a:prstGeom>
          <a:noFill/>
          <a:ln cap="flat" cmpd="sng" w="9525">
            <a:solidFill>
              <a:schemeClr val="dk2"/>
            </a:solidFill>
            <a:prstDash val="solid"/>
            <a:round/>
            <a:headEnd len="med" w="med" type="none"/>
            <a:tailEnd len="med" w="med" type="triangle"/>
          </a:ln>
        </p:spPr>
      </p:cxnSp>
      <p:sp>
        <p:nvSpPr>
          <p:cNvPr id="205" name="Google Shape;205;p22"/>
          <p:cNvSpPr txBox="1"/>
          <p:nvPr/>
        </p:nvSpPr>
        <p:spPr>
          <a:xfrm>
            <a:off x="6303863" y="2628912"/>
            <a:ext cx="564900" cy="49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v</a:t>
            </a:r>
            <a:r>
              <a:rPr baseline="-25000" lang="en">
                <a:latin typeface="Lato"/>
                <a:ea typeface="Lato"/>
                <a:cs typeface="Lato"/>
                <a:sym typeface="Lato"/>
              </a:rPr>
              <a:t>t</a:t>
            </a:r>
            <a:endParaRPr baseline="-25000">
              <a:latin typeface="Lato"/>
              <a:ea typeface="Lato"/>
              <a:cs typeface="Lato"/>
              <a:sym typeface="Lato"/>
            </a:endParaRPr>
          </a:p>
        </p:txBody>
      </p:sp>
      <p:cxnSp>
        <p:nvCxnSpPr>
          <p:cNvPr id="206" name="Google Shape;206;p22"/>
          <p:cNvCxnSpPr>
            <a:stCxn id="202" idx="6"/>
            <a:endCxn id="205" idx="1"/>
          </p:cNvCxnSpPr>
          <p:nvPr/>
        </p:nvCxnSpPr>
        <p:spPr>
          <a:xfrm>
            <a:off x="4382288" y="2874463"/>
            <a:ext cx="1921500" cy="0"/>
          </a:xfrm>
          <a:prstGeom prst="straightConnector1">
            <a:avLst/>
          </a:prstGeom>
          <a:noFill/>
          <a:ln cap="flat" cmpd="sng" w="9525">
            <a:solidFill>
              <a:schemeClr val="dk2"/>
            </a:solidFill>
            <a:prstDash val="solid"/>
            <a:round/>
            <a:headEnd len="med" w="med" type="none"/>
            <a:tailEnd len="med" w="med" type="triangle"/>
          </a:ln>
        </p:spPr>
      </p:cxnSp>
      <p:sp>
        <p:nvSpPr>
          <p:cNvPr id="207" name="Google Shape;207;p22"/>
          <p:cNvSpPr/>
          <p:nvPr/>
        </p:nvSpPr>
        <p:spPr>
          <a:xfrm>
            <a:off x="5717363" y="2010613"/>
            <a:ext cx="51300" cy="51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8" name="Google Shape;208;p22"/>
          <p:cNvCxnSpPr>
            <a:stCxn id="207" idx="0"/>
            <a:endCxn id="192" idx="2"/>
          </p:cNvCxnSpPr>
          <p:nvPr/>
        </p:nvCxnSpPr>
        <p:spPr>
          <a:xfrm rot="10800000">
            <a:off x="5743013" y="1470313"/>
            <a:ext cx="0" cy="540300"/>
          </a:xfrm>
          <a:prstGeom prst="straightConnector1">
            <a:avLst/>
          </a:prstGeom>
          <a:noFill/>
          <a:ln cap="flat" cmpd="sng" w="9525">
            <a:solidFill>
              <a:schemeClr val="dk2"/>
            </a:solidFill>
            <a:prstDash val="solid"/>
            <a:round/>
            <a:headEnd len="med" w="med" type="none"/>
            <a:tailEnd len="med" w="med" type="triangle"/>
          </a:ln>
        </p:spPr>
      </p:cxnSp>
      <p:sp>
        <p:nvSpPr>
          <p:cNvPr id="209" name="Google Shape;209;p22"/>
          <p:cNvSpPr txBox="1"/>
          <p:nvPr/>
        </p:nvSpPr>
        <p:spPr>
          <a:xfrm>
            <a:off x="1086325" y="4432700"/>
            <a:ext cx="7216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3"/>
              </a:rPr>
              <a:t>Nguyen, Tan &amp; Baraniuk, Richard &amp; Bertozzi, Andrea &amp; Osher, Stanley &amp; Wang, Bao. (2020). MomentumRNN: Integrating Momentum into Recurrent Neural Networks.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3" name="Shape 213"/>
        <p:cNvGrpSpPr/>
        <p:nvPr/>
      </p:nvGrpSpPr>
      <p:grpSpPr>
        <a:xfrm>
          <a:off x="0" y="0"/>
          <a:ext cx="0" cy="0"/>
          <a:chOff x="0" y="0"/>
          <a:chExt cx="0" cy="0"/>
        </a:xfrm>
      </p:grpSpPr>
      <p:sp>
        <p:nvSpPr>
          <p:cNvPr id="214" name="Google Shape;214;p23"/>
          <p:cNvSpPr txBox="1"/>
          <p:nvPr>
            <p:ph idx="4294967295" type="title"/>
          </p:nvPr>
        </p:nvSpPr>
        <p:spPr>
          <a:xfrm>
            <a:off x="1973400" y="-27300"/>
            <a:ext cx="51972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600">
                <a:solidFill>
                  <a:schemeClr val="dk1"/>
                </a:solidFill>
              </a:rPr>
              <a:t>Momentum RNN</a:t>
            </a:r>
            <a:endParaRPr sz="2400"/>
          </a:p>
        </p:txBody>
      </p:sp>
      <p:pic>
        <p:nvPicPr>
          <p:cNvPr id="215" name="Google Shape;215;p23"/>
          <p:cNvPicPr preferRelativeResize="0"/>
          <p:nvPr/>
        </p:nvPicPr>
        <p:blipFill rotWithShape="1">
          <a:blip r:embed="rId3">
            <a:alphaModFix/>
          </a:blip>
          <a:srcRect b="4484" l="4293" r="5323" t="8445"/>
          <a:stretch/>
        </p:blipFill>
        <p:spPr>
          <a:xfrm>
            <a:off x="428625" y="1239550"/>
            <a:ext cx="4965699" cy="3046700"/>
          </a:xfrm>
          <a:prstGeom prst="rect">
            <a:avLst/>
          </a:prstGeom>
          <a:noFill/>
          <a:ln>
            <a:noFill/>
          </a:ln>
        </p:spPr>
      </p:pic>
      <p:sp>
        <p:nvSpPr>
          <p:cNvPr id="216" name="Google Shape;216;p23"/>
          <p:cNvSpPr txBox="1"/>
          <p:nvPr/>
        </p:nvSpPr>
        <p:spPr>
          <a:xfrm>
            <a:off x="5502625" y="984675"/>
            <a:ext cx="3336300" cy="37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Model:</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Two layers:</a:t>
            </a:r>
            <a:endParaRPr sz="1800">
              <a:solidFill>
                <a:schemeClr val="dk2"/>
              </a:solidFill>
              <a:latin typeface="Lato"/>
              <a:ea typeface="Lato"/>
              <a:cs typeface="Lato"/>
              <a:sym typeface="Lato"/>
            </a:endParaRPr>
          </a:p>
          <a:p>
            <a:pPr indent="-342900" lvl="1" marL="9144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Momentum Cell Layer</a:t>
            </a:r>
            <a:endParaRPr sz="1800">
              <a:solidFill>
                <a:schemeClr val="dk2"/>
              </a:solidFill>
              <a:latin typeface="Lato"/>
              <a:ea typeface="Lato"/>
              <a:cs typeface="Lato"/>
              <a:sym typeface="Lato"/>
            </a:endParaRPr>
          </a:p>
          <a:p>
            <a:pPr indent="-342900" lvl="1" marL="9144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Linear Layer</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Training: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p24"/>
          <p:cNvSpPr/>
          <p:nvPr/>
        </p:nvSpPr>
        <p:spPr>
          <a:xfrm>
            <a:off x="1650125" y="2412550"/>
            <a:ext cx="1292700" cy="1102200"/>
          </a:xfrm>
          <a:prstGeom prst="rtTriangle">
            <a:avLst/>
          </a:prstGeom>
          <a:solidFill>
            <a:srgbClr val="CFE2F3"/>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2" name="Google Shape;222;p24"/>
          <p:cNvSpPr/>
          <p:nvPr/>
        </p:nvSpPr>
        <p:spPr>
          <a:xfrm>
            <a:off x="3295250" y="3172300"/>
            <a:ext cx="3795600" cy="1353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3" name="Google Shape;223;p24"/>
          <p:cNvSpPr txBox="1"/>
          <p:nvPr>
            <p:ph idx="4294967295" type="title"/>
          </p:nvPr>
        </p:nvSpPr>
        <p:spPr>
          <a:xfrm>
            <a:off x="1973400" y="-27300"/>
            <a:ext cx="51972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600">
                <a:solidFill>
                  <a:schemeClr val="dk1"/>
                </a:solidFill>
              </a:rPr>
              <a:t>Mogrifier LSTM</a:t>
            </a:r>
            <a:endParaRPr sz="2400"/>
          </a:p>
        </p:txBody>
      </p:sp>
      <p:sp>
        <p:nvSpPr>
          <p:cNvPr id="224" name="Google Shape;224;p24"/>
          <p:cNvSpPr/>
          <p:nvPr/>
        </p:nvSpPr>
        <p:spPr>
          <a:xfrm>
            <a:off x="2279503" y="879678"/>
            <a:ext cx="4842900" cy="20589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5" name="Google Shape;225;p24"/>
          <p:cNvSpPr/>
          <p:nvPr/>
        </p:nvSpPr>
        <p:spPr>
          <a:xfrm>
            <a:off x="2400635" y="2499607"/>
            <a:ext cx="284100" cy="292800"/>
          </a:xfrm>
          <a:prstGeom prst="flowChar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6" name="Google Shape;226;p24"/>
          <p:cNvSpPr txBox="1"/>
          <p:nvPr/>
        </p:nvSpPr>
        <p:spPr>
          <a:xfrm>
            <a:off x="1605000" y="2461930"/>
            <a:ext cx="4500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h</a:t>
            </a:r>
            <a:r>
              <a:rPr baseline="-25000" lang="en">
                <a:latin typeface="Lato"/>
                <a:ea typeface="Lato"/>
                <a:cs typeface="Lato"/>
                <a:sym typeface="Lato"/>
              </a:rPr>
              <a:t>t-1</a:t>
            </a:r>
            <a:endParaRPr baseline="-25000">
              <a:latin typeface="Lato"/>
              <a:ea typeface="Lato"/>
              <a:cs typeface="Lato"/>
              <a:sym typeface="Lato"/>
            </a:endParaRPr>
          </a:p>
        </p:txBody>
      </p:sp>
      <p:sp>
        <p:nvSpPr>
          <p:cNvPr id="227" name="Google Shape;227;p24"/>
          <p:cNvSpPr txBox="1"/>
          <p:nvPr/>
        </p:nvSpPr>
        <p:spPr>
          <a:xfrm>
            <a:off x="2317865" y="3134812"/>
            <a:ext cx="450000" cy="16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x</a:t>
            </a:r>
            <a:r>
              <a:rPr baseline="-25000" lang="en">
                <a:latin typeface="Lato"/>
                <a:ea typeface="Lato"/>
                <a:cs typeface="Lato"/>
                <a:sym typeface="Lato"/>
              </a:rPr>
              <a:t>t</a:t>
            </a:r>
            <a:endParaRPr baseline="-25000">
              <a:latin typeface="Lato"/>
              <a:ea typeface="Lato"/>
              <a:cs typeface="Lato"/>
              <a:sym typeface="Lato"/>
            </a:endParaRPr>
          </a:p>
        </p:txBody>
      </p:sp>
      <p:sp>
        <p:nvSpPr>
          <p:cNvPr id="228" name="Google Shape;228;p24"/>
          <p:cNvSpPr txBox="1"/>
          <p:nvPr/>
        </p:nvSpPr>
        <p:spPr>
          <a:xfrm>
            <a:off x="6543324" y="480900"/>
            <a:ext cx="450000" cy="29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y</a:t>
            </a:r>
            <a:r>
              <a:rPr baseline="-25000" lang="en">
                <a:latin typeface="Lato"/>
                <a:ea typeface="Lato"/>
                <a:cs typeface="Lato"/>
                <a:sym typeface="Lato"/>
              </a:rPr>
              <a:t>t</a:t>
            </a:r>
            <a:endParaRPr baseline="-25000">
              <a:latin typeface="Lato"/>
              <a:ea typeface="Lato"/>
              <a:cs typeface="Lato"/>
              <a:sym typeface="Lato"/>
            </a:endParaRPr>
          </a:p>
        </p:txBody>
      </p:sp>
      <p:sp>
        <p:nvSpPr>
          <p:cNvPr id="229" name="Google Shape;229;p24"/>
          <p:cNvSpPr txBox="1"/>
          <p:nvPr/>
        </p:nvSpPr>
        <p:spPr>
          <a:xfrm>
            <a:off x="7253036" y="2010219"/>
            <a:ext cx="450000" cy="41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h</a:t>
            </a:r>
            <a:r>
              <a:rPr baseline="-25000" lang="en">
                <a:latin typeface="Lato"/>
                <a:ea typeface="Lato"/>
                <a:cs typeface="Lato"/>
                <a:sym typeface="Lato"/>
              </a:rPr>
              <a:t>t</a:t>
            </a:r>
            <a:endParaRPr baseline="-25000">
              <a:latin typeface="Lato"/>
              <a:ea typeface="Lato"/>
              <a:cs typeface="Lato"/>
              <a:sym typeface="Lato"/>
            </a:endParaRPr>
          </a:p>
        </p:txBody>
      </p:sp>
      <p:cxnSp>
        <p:nvCxnSpPr>
          <p:cNvPr id="230" name="Google Shape;230;p24"/>
          <p:cNvCxnSpPr>
            <a:stCxn id="227" idx="0"/>
            <a:endCxn id="225" idx="4"/>
          </p:cNvCxnSpPr>
          <p:nvPr/>
        </p:nvCxnSpPr>
        <p:spPr>
          <a:xfrm rot="10800000">
            <a:off x="2542565" y="2792512"/>
            <a:ext cx="300" cy="342300"/>
          </a:xfrm>
          <a:prstGeom prst="straightConnector1">
            <a:avLst/>
          </a:prstGeom>
          <a:noFill/>
          <a:ln cap="flat" cmpd="sng" w="9525">
            <a:solidFill>
              <a:schemeClr val="dk2"/>
            </a:solidFill>
            <a:prstDash val="solid"/>
            <a:round/>
            <a:headEnd len="med" w="med" type="none"/>
            <a:tailEnd len="med" w="med" type="triangle"/>
          </a:ln>
        </p:spPr>
      </p:cxnSp>
      <p:cxnSp>
        <p:nvCxnSpPr>
          <p:cNvPr id="231" name="Google Shape;231;p24"/>
          <p:cNvCxnSpPr>
            <a:stCxn id="226" idx="3"/>
            <a:endCxn id="225" idx="2"/>
          </p:cNvCxnSpPr>
          <p:nvPr/>
        </p:nvCxnSpPr>
        <p:spPr>
          <a:xfrm>
            <a:off x="2055000" y="2645980"/>
            <a:ext cx="345600" cy="0"/>
          </a:xfrm>
          <a:prstGeom prst="straightConnector1">
            <a:avLst/>
          </a:prstGeom>
          <a:noFill/>
          <a:ln cap="flat" cmpd="sng" w="9525">
            <a:solidFill>
              <a:schemeClr val="dk2"/>
            </a:solidFill>
            <a:prstDash val="solid"/>
            <a:round/>
            <a:headEnd len="med" w="med" type="none"/>
            <a:tailEnd len="med" w="med" type="triangle"/>
          </a:ln>
        </p:spPr>
      </p:cxnSp>
      <p:sp>
        <p:nvSpPr>
          <p:cNvPr id="232" name="Google Shape;232;p24"/>
          <p:cNvSpPr/>
          <p:nvPr/>
        </p:nvSpPr>
        <p:spPr>
          <a:xfrm>
            <a:off x="2576087" y="2066311"/>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Lato"/>
                <a:ea typeface="Lato"/>
                <a:cs typeface="Lato"/>
                <a:sym typeface="Lato"/>
              </a:rPr>
              <a:t>σ</a:t>
            </a:r>
            <a:endParaRPr sz="900">
              <a:latin typeface="Lato"/>
              <a:ea typeface="Lato"/>
              <a:cs typeface="Lato"/>
              <a:sym typeface="Lato"/>
            </a:endParaRPr>
          </a:p>
        </p:txBody>
      </p:sp>
      <p:sp>
        <p:nvSpPr>
          <p:cNvPr id="233" name="Google Shape;233;p24"/>
          <p:cNvSpPr/>
          <p:nvPr/>
        </p:nvSpPr>
        <p:spPr>
          <a:xfrm>
            <a:off x="3412002" y="2066311"/>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900">
                <a:solidFill>
                  <a:schemeClr val="dk2"/>
                </a:solidFill>
                <a:latin typeface="Lato"/>
                <a:ea typeface="Lato"/>
                <a:cs typeface="Lato"/>
                <a:sym typeface="Lato"/>
              </a:rPr>
              <a:t>σ</a:t>
            </a:r>
            <a:endParaRPr sz="900">
              <a:latin typeface="Lato"/>
              <a:ea typeface="Lato"/>
              <a:cs typeface="Lato"/>
              <a:sym typeface="Lato"/>
            </a:endParaRPr>
          </a:p>
        </p:txBody>
      </p:sp>
      <p:sp>
        <p:nvSpPr>
          <p:cNvPr id="234" name="Google Shape;234;p24"/>
          <p:cNvSpPr/>
          <p:nvPr/>
        </p:nvSpPr>
        <p:spPr>
          <a:xfrm>
            <a:off x="4364012" y="2066311"/>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latin typeface="Lato"/>
                <a:ea typeface="Lato"/>
                <a:cs typeface="Lato"/>
                <a:sym typeface="Lato"/>
              </a:rPr>
              <a:t>tanh</a:t>
            </a:r>
            <a:endParaRPr i="1" sz="900">
              <a:latin typeface="Lato"/>
              <a:ea typeface="Lato"/>
              <a:cs typeface="Lato"/>
              <a:sym typeface="Lato"/>
            </a:endParaRPr>
          </a:p>
        </p:txBody>
      </p:sp>
      <p:sp>
        <p:nvSpPr>
          <p:cNvPr id="235" name="Google Shape;235;p24"/>
          <p:cNvSpPr/>
          <p:nvPr/>
        </p:nvSpPr>
        <p:spPr>
          <a:xfrm>
            <a:off x="5316032" y="2066311"/>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900">
                <a:solidFill>
                  <a:schemeClr val="dk2"/>
                </a:solidFill>
                <a:latin typeface="Lato"/>
                <a:ea typeface="Lato"/>
                <a:cs typeface="Lato"/>
                <a:sym typeface="Lato"/>
              </a:rPr>
              <a:t>σ</a:t>
            </a:r>
            <a:endParaRPr sz="900">
              <a:latin typeface="Lato"/>
              <a:ea typeface="Lato"/>
              <a:cs typeface="Lato"/>
              <a:sym typeface="Lato"/>
            </a:endParaRPr>
          </a:p>
        </p:txBody>
      </p:sp>
      <p:sp>
        <p:nvSpPr>
          <p:cNvPr id="236" name="Google Shape;236;p24"/>
          <p:cNvSpPr/>
          <p:nvPr/>
        </p:nvSpPr>
        <p:spPr>
          <a:xfrm>
            <a:off x="5520486" y="2624686"/>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37" name="Google Shape;237;p24"/>
          <p:cNvCxnSpPr>
            <a:stCxn id="225" idx="6"/>
            <a:endCxn id="236" idx="2"/>
          </p:cNvCxnSpPr>
          <p:nvPr/>
        </p:nvCxnSpPr>
        <p:spPr>
          <a:xfrm>
            <a:off x="2684735" y="2646007"/>
            <a:ext cx="2835900" cy="600"/>
          </a:xfrm>
          <a:prstGeom prst="bentConnector3">
            <a:avLst>
              <a:gd fmla="val 49997" name="adj1"/>
            </a:avLst>
          </a:prstGeom>
          <a:noFill/>
          <a:ln cap="flat" cmpd="sng" w="9525">
            <a:solidFill>
              <a:schemeClr val="dk2"/>
            </a:solidFill>
            <a:prstDash val="solid"/>
            <a:round/>
            <a:headEnd len="med" w="med" type="none"/>
            <a:tailEnd len="med" w="med" type="none"/>
          </a:ln>
        </p:spPr>
      </p:cxnSp>
      <p:cxnSp>
        <p:nvCxnSpPr>
          <p:cNvPr id="238" name="Google Shape;238;p24"/>
          <p:cNvCxnSpPr>
            <a:endCxn id="235" idx="2"/>
          </p:cNvCxnSpPr>
          <p:nvPr/>
        </p:nvCxnSpPr>
        <p:spPr>
          <a:xfrm rot="10800000">
            <a:off x="5541032" y="2364211"/>
            <a:ext cx="1500" cy="258600"/>
          </a:xfrm>
          <a:prstGeom prst="straightConnector1">
            <a:avLst/>
          </a:prstGeom>
          <a:noFill/>
          <a:ln cap="flat" cmpd="sng" w="9525">
            <a:solidFill>
              <a:schemeClr val="dk2"/>
            </a:solidFill>
            <a:prstDash val="solid"/>
            <a:round/>
            <a:headEnd len="med" w="med" type="none"/>
            <a:tailEnd len="med" w="med" type="triangle"/>
          </a:ln>
        </p:spPr>
      </p:cxnSp>
      <p:sp>
        <p:nvSpPr>
          <p:cNvPr id="239" name="Google Shape;239;p24"/>
          <p:cNvSpPr/>
          <p:nvPr/>
        </p:nvSpPr>
        <p:spPr>
          <a:xfrm>
            <a:off x="4568476" y="2624937"/>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24"/>
          <p:cNvSpPr/>
          <p:nvPr/>
        </p:nvSpPr>
        <p:spPr>
          <a:xfrm>
            <a:off x="3616466" y="2624937"/>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24"/>
          <p:cNvSpPr/>
          <p:nvPr/>
        </p:nvSpPr>
        <p:spPr>
          <a:xfrm>
            <a:off x="2780532" y="2624937"/>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42" name="Google Shape;242;p24"/>
          <p:cNvCxnSpPr/>
          <p:nvPr/>
        </p:nvCxnSpPr>
        <p:spPr>
          <a:xfrm rot="10800000">
            <a:off x="2799947" y="2364589"/>
            <a:ext cx="2100" cy="258600"/>
          </a:xfrm>
          <a:prstGeom prst="straightConnector1">
            <a:avLst/>
          </a:prstGeom>
          <a:noFill/>
          <a:ln cap="flat" cmpd="sng" w="9525">
            <a:solidFill>
              <a:schemeClr val="dk2"/>
            </a:solidFill>
            <a:prstDash val="solid"/>
            <a:round/>
            <a:headEnd len="med" w="med" type="none"/>
            <a:tailEnd len="med" w="med" type="triangle"/>
          </a:ln>
        </p:spPr>
      </p:cxnSp>
      <p:cxnSp>
        <p:nvCxnSpPr>
          <p:cNvPr id="243" name="Google Shape;243;p24"/>
          <p:cNvCxnSpPr>
            <a:endCxn id="233" idx="2"/>
          </p:cNvCxnSpPr>
          <p:nvPr/>
        </p:nvCxnSpPr>
        <p:spPr>
          <a:xfrm rot="10800000">
            <a:off x="3637002" y="2364211"/>
            <a:ext cx="2700" cy="258600"/>
          </a:xfrm>
          <a:prstGeom prst="straightConnector1">
            <a:avLst/>
          </a:prstGeom>
          <a:noFill/>
          <a:ln cap="flat" cmpd="sng" w="9525">
            <a:solidFill>
              <a:schemeClr val="dk2"/>
            </a:solidFill>
            <a:prstDash val="solid"/>
            <a:round/>
            <a:headEnd len="med" w="med" type="none"/>
            <a:tailEnd len="med" w="med" type="triangle"/>
          </a:ln>
        </p:spPr>
      </p:cxnSp>
      <p:cxnSp>
        <p:nvCxnSpPr>
          <p:cNvPr id="244" name="Google Shape;244;p24"/>
          <p:cNvCxnSpPr>
            <a:endCxn id="234" idx="2"/>
          </p:cNvCxnSpPr>
          <p:nvPr/>
        </p:nvCxnSpPr>
        <p:spPr>
          <a:xfrm rot="10800000">
            <a:off x="4589012" y="2364211"/>
            <a:ext cx="1800" cy="262200"/>
          </a:xfrm>
          <a:prstGeom prst="straightConnector1">
            <a:avLst/>
          </a:prstGeom>
          <a:noFill/>
          <a:ln cap="flat" cmpd="sng" w="9525">
            <a:solidFill>
              <a:schemeClr val="dk2"/>
            </a:solidFill>
            <a:prstDash val="solid"/>
            <a:round/>
            <a:headEnd len="med" w="med" type="none"/>
            <a:tailEnd len="med" w="med" type="triangle"/>
          </a:ln>
        </p:spPr>
      </p:cxnSp>
      <p:sp>
        <p:nvSpPr>
          <p:cNvPr id="245" name="Google Shape;245;p24"/>
          <p:cNvSpPr txBox="1"/>
          <p:nvPr/>
        </p:nvSpPr>
        <p:spPr>
          <a:xfrm>
            <a:off x="1722599" y="1056683"/>
            <a:ext cx="4500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a:t>
            </a:r>
            <a:r>
              <a:rPr baseline="-25000" lang="en">
                <a:latin typeface="Lato"/>
                <a:ea typeface="Lato"/>
                <a:cs typeface="Lato"/>
                <a:sym typeface="Lato"/>
              </a:rPr>
              <a:t>t-1</a:t>
            </a:r>
            <a:endParaRPr baseline="-25000">
              <a:latin typeface="Lato"/>
              <a:ea typeface="Lato"/>
              <a:cs typeface="Lato"/>
              <a:sym typeface="Lato"/>
            </a:endParaRPr>
          </a:p>
        </p:txBody>
      </p:sp>
      <p:sp>
        <p:nvSpPr>
          <p:cNvPr id="246" name="Google Shape;246;p24"/>
          <p:cNvSpPr/>
          <p:nvPr/>
        </p:nvSpPr>
        <p:spPr>
          <a:xfrm>
            <a:off x="2658843" y="1091715"/>
            <a:ext cx="284100" cy="297900"/>
          </a:xfrm>
          <a:prstGeom prst="flowChartSummingJunction">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47" name="Google Shape;247;p24"/>
          <p:cNvCxnSpPr>
            <a:stCxn id="232" idx="0"/>
            <a:endCxn id="246" idx="4"/>
          </p:cNvCxnSpPr>
          <p:nvPr/>
        </p:nvCxnSpPr>
        <p:spPr>
          <a:xfrm rot="10800000">
            <a:off x="2800787" y="1389511"/>
            <a:ext cx="300" cy="676800"/>
          </a:xfrm>
          <a:prstGeom prst="straightConnector1">
            <a:avLst/>
          </a:prstGeom>
          <a:noFill/>
          <a:ln cap="flat" cmpd="sng" w="9525">
            <a:solidFill>
              <a:schemeClr val="dk2"/>
            </a:solidFill>
            <a:prstDash val="solid"/>
            <a:round/>
            <a:headEnd len="med" w="med" type="none"/>
            <a:tailEnd len="med" w="med" type="triangle"/>
          </a:ln>
        </p:spPr>
      </p:cxnSp>
      <p:sp>
        <p:nvSpPr>
          <p:cNvPr id="248" name="Google Shape;248;p24"/>
          <p:cNvSpPr txBox="1"/>
          <p:nvPr/>
        </p:nvSpPr>
        <p:spPr>
          <a:xfrm>
            <a:off x="2492829" y="1578124"/>
            <a:ext cx="450000" cy="16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f</a:t>
            </a:r>
            <a:r>
              <a:rPr baseline="-25000" lang="en">
                <a:latin typeface="Lato"/>
                <a:ea typeface="Lato"/>
                <a:cs typeface="Lato"/>
                <a:sym typeface="Lato"/>
              </a:rPr>
              <a:t>t</a:t>
            </a:r>
            <a:endParaRPr baseline="-25000">
              <a:latin typeface="Lato"/>
              <a:ea typeface="Lato"/>
              <a:cs typeface="Lato"/>
              <a:sym typeface="Lato"/>
            </a:endParaRPr>
          </a:p>
        </p:txBody>
      </p:sp>
      <p:sp>
        <p:nvSpPr>
          <p:cNvPr id="249" name="Google Shape;249;p24"/>
          <p:cNvSpPr/>
          <p:nvPr/>
        </p:nvSpPr>
        <p:spPr>
          <a:xfrm>
            <a:off x="4446825" y="1100346"/>
            <a:ext cx="284100" cy="292800"/>
          </a:xfrm>
          <a:prstGeom prst="flowChar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0" name="Google Shape;250;p24"/>
          <p:cNvSpPr/>
          <p:nvPr/>
        </p:nvSpPr>
        <p:spPr>
          <a:xfrm>
            <a:off x="4446828" y="1580849"/>
            <a:ext cx="284100" cy="297900"/>
          </a:xfrm>
          <a:prstGeom prst="flowChartSummingJunction">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51" name="Google Shape;251;p24"/>
          <p:cNvCxnSpPr>
            <a:stCxn id="246" idx="6"/>
            <a:endCxn id="249" idx="2"/>
          </p:cNvCxnSpPr>
          <p:nvPr/>
        </p:nvCxnSpPr>
        <p:spPr>
          <a:xfrm>
            <a:off x="2942943" y="1240665"/>
            <a:ext cx="1503900" cy="6000"/>
          </a:xfrm>
          <a:prstGeom prst="straightConnector1">
            <a:avLst/>
          </a:prstGeom>
          <a:noFill/>
          <a:ln cap="flat" cmpd="sng" w="9525">
            <a:solidFill>
              <a:schemeClr val="dk2"/>
            </a:solidFill>
            <a:prstDash val="solid"/>
            <a:round/>
            <a:headEnd len="med" w="med" type="none"/>
            <a:tailEnd len="med" w="med" type="triangle"/>
          </a:ln>
        </p:spPr>
      </p:cxnSp>
      <p:cxnSp>
        <p:nvCxnSpPr>
          <p:cNvPr id="252" name="Google Shape;252;p24"/>
          <p:cNvCxnSpPr>
            <a:stCxn id="245" idx="3"/>
            <a:endCxn id="246" idx="2"/>
          </p:cNvCxnSpPr>
          <p:nvPr/>
        </p:nvCxnSpPr>
        <p:spPr>
          <a:xfrm>
            <a:off x="2172599" y="1240733"/>
            <a:ext cx="486300" cy="0"/>
          </a:xfrm>
          <a:prstGeom prst="straightConnector1">
            <a:avLst/>
          </a:prstGeom>
          <a:noFill/>
          <a:ln cap="flat" cmpd="sng" w="9525">
            <a:solidFill>
              <a:schemeClr val="dk2"/>
            </a:solidFill>
            <a:prstDash val="solid"/>
            <a:round/>
            <a:headEnd len="med" w="med" type="none"/>
            <a:tailEnd len="med" w="med" type="triangle"/>
          </a:ln>
        </p:spPr>
      </p:cxnSp>
      <p:cxnSp>
        <p:nvCxnSpPr>
          <p:cNvPr id="253" name="Google Shape;253;p24"/>
          <p:cNvCxnSpPr>
            <a:stCxn id="234" idx="0"/>
            <a:endCxn id="250" idx="4"/>
          </p:cNvCxnSpPr>
          <p:nvPr/>
        </p:nvCxnSpPr>
        <p:spPr>
          <a:xfrm rot="10800000">
            <a:off x="4589012" y="1878811"/>
            <a:ext cx="0" cy="187500"/>
          </a:xfrm>
          <a:prstGeom prst="straightConnector1">
            <a:avLst/>
          </a:prstGeom>
          <a:noFill/>
          <a:ln cap="flat" cmpd="sng" w="9525">
            <a:solidFill>
              <a:schemeClr val="dk2"/>
            </a:solidFill>
            <a:prstDash val="solid"/>
            <a:round/>
            <a:headEnd len="med" w="med" type="none"/>
            <a:tailEnd len="med" w="med" type="triangle"/>
          </a:ln>
        </p:spPr>
      </p:cxnSp>
      <p:cxnSp>
        <p:nvCxnSpPr>
          <p:cNvPr id="254" name="Google Shape;254;p24"/>
          <p:cNvCxnSpPr>
            <a:stCxn id="250" idx="0"/>
            <a:endCxn id="249" idx="4"/>
          </p:cNvCxnSpPr>
          <p:nvPr/>
        </p:nvCxnSpPr>
        <p:spPr>
          <a:xfrm rot="10800000">
            <a:off x="4588878" y="1393049"/>
            <a:ext cx="0" cy="187800"/>
          </a:xfrm>
          <a:prstGeom prst="straightConnector1">
            <a:avLst/>
          </a:prstGeom>
          <a:noFill/>
          <a:ln cap="flat" cmpd="sng" w="9525">
            <a:solidFill>
              <a:schemeClr val="dk2"/>
            </a:solidFill>
            <a:prstDash val="solid"/>
            <a:round/>
            <a:headEnd len="med" w="med" type="none"/>
            <a:tailEnd len="med" w="med" type="triangle"/>
          </a:ln>
        </p:spPr>
      </p:cxnSp>
      <p:sp>
        <p:nvSpPr>
          <p:cNvPr id="255" name="Google Shape;255;p24"/>
          <p:cNvSpPr txBox="1"/>
          <p:nvPr/>
        </p:nvSpPr>
        <p:spPr>
          <a:xfrm>
            <a:off x="7253034" y="1063783"/>
            <a:ext cx="4500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a:t>
            </a:r>
            <a:r>
              <a:rPr baseline="-25000" lang="en">
                <a:latin typeface="Lato"/>
                <a:ea typeface="Lato"/>
                <a:cs typeface="Lato"/>
                <a:sym typeface="Lato"/>
              </a:rPr>
              <a:t>t</a:t>
            </a:r>
            <a:endParaRPr baseline="-25000">
              <a:latin typeface="Lato"/>
              <a:ea typeface="Lato"/>
              <a:cs typeface="Lato"/>
              <a:sym typeface="Lato"/>
            </a:endParaRPr>
          </a:p>
        </p:txBody>
      </p:sp>
      <p:cxnSp>
        <p:nvCxnSpPr>
          <p:cNvPr id="256" name="Google Shape;256;p24"/>
          <p:cNvCxnSpPr>
            <a:stCxn id="249" idx="6"/>
            <a:endCxn id="255" idx="1"/>
          </p:cNvCxnSpPr>
          <p:nvPr/>
        </p:nvCxnSpPr>
        <p:spPr>
          <a:xfrm>
            <a:off x="4730925" y="1246746"/>
            <a:ext cx="2522100" cy="1200"/>
          </a:xfrm>
          <a:prstGeom prst="straightConnector1">
            <a:avLst/>
          </a:prstGeom>
          <a:noFill/>
          <a:ln cap="flat" cmpd="sng" w="9525">
            <a:solidFill>
              <a:schemeClr val="dk2"/>
            </a:solidFill>
            <a:prstDash val="solid"/>
            <a:round/>
            <a:headEnd len="med" w="med" type="none"/>
            <a:tailEnd len="med" w="med" type="triangle"/>
          </a:ln>
        </p:spPr>
      </p:cxnSp>
      <p:sp>
        <p:nvSpPr>
          <p:cNvPr id="257" name="Google Shape;257;p24"/>
          <p:cNvSpPr/>
          <p:nvPr/>
        </p:nvSpPr>
        <p:spPr>
          <a:xfrm>
            <a:off x="6068921" y="1445117"/>
            <a:ext cx="450000" cy="297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latin typeface="Lato"/>
                <a:ea typeface="Lato"/>
                <a:cs typeface="Lato"/>
                <a:sym typeface="Lato"/>
              </a:rPr>
              <a:t>tanh</a:t>
            </a:r>
            <a:endParaRPr i="1" sz="900">
              <a:latin typeface="Lato"/>
              <a:ea typeface="Lato"/>
              <a:cs typeface="Lato"/>
              <a:sym typeface="Lato"/>
            </a:endParaRPr>
          </a:p>
        </p:txBody>
      </p:sp>
      <p:sp>
        <p:nvSpPr>
          <p:cNvPr id="258" name="Google Shape;258;p24"/>
          <p:cNvSpPr/>
          <p:nvPr/>
        </p:nvSpPr>
        <p:spPr>
          <a:xfrm>
            <a:off x="6151936" y="2066314"/>
            <a:ext cx="284100" cy="297900"/>
          </a:xfrm>
          <a:prstGeom prst="flowChartSummingJunction">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59" name="Google Shape;259;p24"/>
          <p:cNvCxnSpPr>
            <a:stCxn id="235" idx="3"/>
            <a:endCxn id="258" idx="2"/>
          </p:cNvCxnSpPr>
          <p:nvPr/>
        </p:nvCxnSpPr>
        <p:spPr>
          <a:xfrm>
            <a:off x="5766032" y="2215261"/>
            <a:ext cx="385800" cy="0"/>
          </a:xfrm>
          <a:prstGeom prst="straightConnector1">
            <a:avLst/>
          </a:prstGeom>
          <a:noFill/>
          <a:ln cap="flat" cmpd="sng" w="9525">
            <a:solidFill>
              <a:schemeClr val="dk2"/>
            </a:solidFill>
            <a:prstDash val="solid"/>
            <a:round/>
            <a:headEnd len="med" w="med" type="none"/>
            <a:tailEnd len="med" w="med" type="triangle"/>
          </a:ln>
        </p:spPr>
      </p:cxnSp>
      <p:sp>
        <p:nvSpPr>
          <p:cNvPr id="260" name="Google Shape;260;p24"/>
          <p:cNvSpPr txBox="1"/>
          <p:nvPr/>
        </p:nvSpPr>
        <p:spPr>
          <a:xfrm>
            <a:off x="5672070" y="1864207"/>
            <a:ext cx="450000" cy="16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o</a:t>
            </a:r>
            <a:r>
              <a:rPr baseline="-25000" lang="en">
                <a:latin typeface="Lato"/>
                <a:ea typeface="Lato"/>
                <a:cs typeface="Lato"/>
                <a:sym typeface="Lato"/>
              </a:rPr>
              <a:t>t</a:t>
            </a:r>
            <a:endParaRPr baseline="-25000">
              <a:latin typeface="Lato"/>
              <a:ea typeface="Lato"/>
              <a:cs typeface="Lato"/>
              <a:sym typeface="Lato"/>
            </a:endParaRPr>
          </a:p>
        </p:txBody>
      </p:sp>
      <p:sp>
        <p:nvSpPr>
          <p:cNvPr id="261" name="Google Shape;261;p24"/>
          <p:cNvSpPr/>
          <p:nvPr/>
        </p:nvSpPr>
        <p:spPr>
          <a:xfrm>
            <a:off x="6273585" y="1219213"/>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2" name="Google Shape;262;p24"/>
          <p:cNvCxnSpPr>
            <a:stCxn id="261" idx="4"/>
            <a:endCxn id="257" idx="0"/>
          </p:cNvCxnSpPr>
          <p:nvPr/>
        </p:nvCxnSpPr>
        <p:spPr>
          <a:xfrm>
            <a:off x="6293985" y="1262113"/>
            <a:ext cx="0" cy="183000"/>
          </a:xfrm>
          <a:prstGeom prst="straightConnector1">
            <a:avLst/>
          </a:prstGeom>
          <a:noFill/>
          <a:ln cap="flat" cmpd="sng" w="9525">
            <a:solidFill>
              <a:schemeClr val="dk2"/>
            </a:solidFill>
            <a:prstDash val="solid"/>
            <a:round/>
            <a:headEnd len="med" w="med" type="none"/>
            <a:tailEnd len="med" w="med" type="triangle"/>
          </a:ln>
        </p:spPr>
      </p:cxnSp>
      <p:cxnSp>
        <p:nvCxnSpPr>
          <p:cNvPr id="263" name="Google Shape;263;p24"/>
          <p:cNvCxnSpPr>
            <a:stCxn id="257" idx="2"/>
            <a:endCxn id="258" idx="0"/>
          </p:cNvCxnSpPr>
          <p:nvPr/>
        </p:nvCxnSpPr>
        <p:spPr>
          <a:xfrm>
            <a:off x="6293921" y="1743017"/>
            <a:ext cx="0" cy="323400"/>
          </a:xfrm>
          <a:prstGeom prst="straightConnector1">
            <a:avLst/>
          </a:prstGeom>
          <a:noFill/>
          <a:ln cap="flat" cmpd="sng" w="9525">
            <a:solidFill>
              <a:schemeClr val="dk2"/>
            </a:solidFill>
            <a:prstDash val="solid"/>
            <a:round/>
            <a:headEnd len="med" w="med" type="none"/>
            <a:tailEnd len="med" w="med" type="triangle"/>
          </a:ln>
        </p:spPr>
      </p:cxnSp>
      <p:cxnSp>
        <p:nvCxnSpPr>
          <p:cNvPr id="264" name="Google Shape;264;p24"/>
          <p:cNvCxnSpPr>
            <a:stCxn id="258" idx="6"/>
            <a:endCxn id="229" idx="1"/>
          </p:cNvCxnSpPr>
          <p:nvPr/>
        </p:nvCxnSpPr>
        <p:spPr>
          <a:xfrm>
            <a:off x="6436036" y="2215264"/>
            <a:ext cx="816900" cy="0"/>
          </a:xfrm>
          <a:prstGeom prst="straightConnector1">
            <a:avLst/>
          </a:prstGeom>
          <a:noFill/>
          <a:ln cap="flat" cmpd="sng" w="9525">
            <a:solidFill>
              <a:schemeClr val="dk2"/>
            </a:solidFill>
            <a:prstDash val="solid"/>
            <a:round/>
            <a:headEnd len="med" w="med" type="none"/>
            <a:tailEnd len="med" w="med" type="triangle"/>
          </a:ln>
        </p:spPr>
      </p:cxnSp>
      <p:sp>
        <p:nvSpPr>
          <p:cNvPr id="265" name="Google Shape;265;p24"/>
          <p:cNvSpPr/>
          <p:nvPr/>
        </p:nvSpPr>
        <p:spPr>
          <a:xfrm>
            <a:off x="3617596" y="1708406"/>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6" name="Google Shape;266;p24"/>
          <p:cNvCxnSpPr>
            <a:stCxn id="265" idx="4"/>
            <a:endCxn id="233" idx="0"/>
          </p:cNvCxnSpPr>
          <p:nvPr/>
        </p:nvCxnSpPr>
        <p:spPr>
          <a:xfrm flipH="1">
            <a:off x="3637096" y="1751306"/>
            <a:ext cx="900" cy="315000"/>
          </a:xfrm>
          <a:prstGeom prst="straightConnector1">
            <a:avLst/>
          </a:prstGeom>
          <a:noFill/>
          <a:ln cap="flat" cmpd="sng" w="9525">
            <a:solidFill>
              <a:schemeClr val="dk2"/>
            </a:solidFill>
            <a:prstDash val="solid"/>
            <a:round/>
            <a:headEnd len="med" w="med" type="none"/>
            <a:tailEnd len="med" w="med" type="none"/>
          </a:ln>
        </p:spPr>
      </p:cxnSp>
      <p:sp>
        <p:nvSpPr>
          <p:cNvPr id="267" name="Google Shape;267;p24"/>
          <p:cNvSpPr txBox="1"/>
          <p:nvPr/>
        </p:nvSpPr>
        <p:spPr>
          <a:xfrm>
            <a:off x="3827532" y="1355665"/>
            <a:ext cx="450000" cy="29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i</a:t>
            </a:r>
            <a:r>
              <a:rPr baseline="-25000" lang="en">
                <a:latin typeface="Lato"/>
                <a:ea typeface="Lato"/>
                <a:cs typeface="Lato"/>
                <a:sym typeface="Lato"/>
              </a:rPr>
              <a:t>t</a:t>
            </a:r>
            <a:endParaRPr baseline="-25000">
              <a:latin typeface="Lato"/>
              <a:ea typeface="Lato"/>
              <a:cs typeface="Lato"/>
              <a:sym typeface="Lato"/>
            </a:endParaRPr>
          </a:p>
        </p:txBody>
      </p:sp>
      <p:sp>
        <p:nvSpPr>
          <p:cNvPr id="268" name="Google Shape;268;p24"/>
          <p:cNvSpPr txBox="1"/>
          <p:nvPr/>
        </p:nvSpPr>
        <p:spPr>
          <a:xfrm>
            <a:off x="4572968" y="1752349"/>
            <a:ext cx="4500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Ĉ</a:t>
            </a:r>
            <a:r>
              <a:rPr baseline="-25000" lang="en">
                <a:latin typeface="Lato"/>
                <a:ea typeface="Lato"/>
                <a:cs typeface="Lato"/>
                <a:sym typeface="Lato"/>
              </a:rPr>
              <a:t>t</a:t>
            </a:r>
            <a:endParaRPr baseline="-25000">
              <a:latin typeface="Lato"/>
              <a:ea typeface="Lato"/>
              <a:cs typeface="Lato"/>
              <a:sym typeface="Lato"/>
            </a:endParaRPr>
          </a:p>
        </p:txBody>
      </p:sp>
      <p:sp>
        <p:nvSpPr>
          <p:cNvPr id="269" name="Google Shape;269;p24"/>
          <p:cNvSpPr txBox="1"/>
          <p:nvPr/>
        </p:nvSpPr>
        <p:spPr>
          <a:xfrm>
            <a:off x="4572968" y="1669744"/>
            <a:ext cx="450000" cy="18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baseline="-25000">
              <a:latin typeface="Lato"/>
              <a:ea typeface="Lato"/>
              <a:cs typeface="Lato"/>
              <a:sym typeface="Lato"/>
            </a:endParaRPr>
          </a:p>
        </p:txBody>
      </p:sp>
      <p:cxnSp>
        <p:nvCxnSpPr>
          <p:cNvPr id="270" name="Google Shape;270;p24"/>
          <p:cNvCxnSpPr/>
          <p:nvPr/>
        </p:nvCxnSpPr>
        <p:spPr>
          <a:xfrm rot="10800000">
            <a:off x="6768324" y="778800"/>
            <a:ext cx="0" cy="1418400"/>
          </a:xfrm>
          <a:prstGeom prst="straightConnector1">
            <a:avLst/>
          </a:prstGeom>
          <a:noFill/>
          <a:ln cap="flat" cmpd="sng" w="9525">
            <a:solidFill>
              <a:schemeClr val="dk2"/>
            </a:solidFill>
            <a:prstDash val="solid"/>
            <a:round/>
            <a:headEnd len="med" w="med" type="none"/>
            <a:tailEnd len="med" w="med" type="triangle"/>
          </a:ln>
        </p:spPr>
      </p:cxnSp>
      <p:cxnSp>
        <p:nvCxnSpPr>
          <p:cNvPr id="271" name="Google Shape;271;p24"/>
          <p:cNvCxnSpPr>
            <a:stCxn id="265" idx="6"/>
            <a:endCxn id="250" idx="2"/>
          </p:cNvCxnSpPr>
          <p:nvPr/>
        </p:nvCxnSpPr>
        <p:spPr>
          <a:xfrm>
            <a:off x="3658396" y="1729856"/>
            <a:ext cx="788400" cy="0"/>
          </a:xfrm>
          <a:prstGeom prst="straightConnector1">
            <a:avLst/>
          </a:prstGeom>
          <a:noFill/>
          <a:ln cap="flat" cmpd="sng" w="9525">
            <a:solidFill>
              <a:schemeClr val="dk2"/>
            </a:solidFill>
            <a:prstDash val="solid"/>
            <a:round/>
            <a:headEnd len="med" w="med" type="none"/>
            <a:tailEnd len="med" w="med" type="triangle"/>
          </a:ln>
        </p:spPr>
      </p:cxnSp>
      <p:sp>
        <p:nvSpPr>
          <p:cNvPr id="272" name="Google Shape;272;p24"/>
          <p:cNvSpPr/>
          <p:nvPr/>
        </p:nvSpPr>
        <p:spPr>
          <a:xfrm>
            <a:off x="3605125" y="3999450"/>
            <a:ext cx="450000" cy="45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Lato"/>
                <a:ea typeface="Lato"/>
                <a:cs typeface="Lato"/>
                <a:sym typeface="Lato"/>
              </a:rPr>
              <a:t>x</a:t>
            </a:r>
            <a:r>
              <a:rPr baseline="30000" lang="en" sz="900">
                <a:solidFill>
                  <a:schemeClr val="dk2"/>
                </a:solidFill>
                <a:latin typeface="Lato"/>
                <a:ea typeface="Lato"/>
                <a:cs typeface="Lato"/>
                <a:sym typeface="Lato"/>
              </a:rPr>
              <a:t>-1</a:t>
            </a:r>
            <a:endParaRPr>
              <a:latin typeface="Lato"/>
              <a:ea typeface="Lato"/>
              <a:cs typeface="Lato"/>
              <a:sym typeface="Lato"/>
            </a:endParaRPr>
          </a:p>
        </p:txBody>
      </p:sp>
      <p:sp>
        <p:nvSpPr>
          <p:cNvPr id="273" name="Google Shape;273;p24"/>
          <p:cNvSpPr/>
          <p:nvPr/>
        </p:nvSpPr>
        <p:spPr>
          <a:xfrm>
            <a:off x="4909525" y="3999450"/>
            <a:ext cx="450000" cy="45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Lato"/>
                <a:ea typeface="Lato"/>
                <a:cs typeface="Lato"/>
                <a:sym typeface="Lato"/>
              </a:rPr>
              <a:t>x</a:t>
            </a:r>
            <a:r>
              <a:rPr baseline="30000" lang="en" sz="900">
                <a:solidFill>
                  <a:schemeClr val="dk2"/>
                </a:solidFill>
                <a:latin typeface="Lato"/>
                <a:ea typeface="Lato"/>
                <a:cs typeface="Lato"/>
                <a:sym typeface="Lato"/>
              </a:rPr>
              <a:t>1</a:t>
            </a:r>
            <a:endParaRPr>
              <a:latin typeface="Lato"/>
              <a:ea typeface="Lato"/>
              <a:cs typeface="Lato"/>
              <a:sym typeface="Lato"/>
            </a:endParaRPr>
          </a:p>
        </p:txBody>
      </p:sp>
      <p:sp>
        <p:nvSpPr>
          <p:cNvPr id="274" name="Google Shape;274;p24"/>
          <p:cNvSpPr/>
          <p:nvPr/>
        </p:nvSpPr>
        <p:spPr>
          <a:xfrm>
            <a:off x="6213925" y="3999450"/>
            <a:ext cx="450000" cy="45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Lato"/>
                <a:ea typeface="Lato"/>
                <a:cs typeface="Lato"/>
                <a:sym typeface="Lato"/>
              </a:rPr>
              <a:t>x</a:t>
            </a:r>
            <a:r>
              <a:rPr baseline="30000" lang="en" sz="900">
                <a:solidFill>
                  <a:schemeClr val="dk2"/>
                </a:solidFill>
                <a:latin typeface="Lato"/>
                <a:ea typeface="Lato"/>
                <a:cs typeface="Lato"/>
                <a:sym typeface="Lato"/>
              </a:rPr>
              <a:t>3</a:t>
            </a:r>
            <a:endParaRPr>
              <a:latin typeface="Lato"/>
              <a:ea typeface="Lato"/>
              <a:cs typeface="Lato"/>
              <a:sym typeface="Lato"/>
            </a:endParaRPr>
          </a:p>
        </p:txBody>
      </p:sp>
      <p:sp>
        <p:nvSpPr>
          <p:cNvPr id="275" name="Google Shape;275;p24"/>
          <p:cNvSpPr/>
          <p:nvPr/>
        </p:nvSpPr>
        <p:spPr>
          <a:xfrm>
            <a:off x="5561725" y="3271913"/>
            <a:ext cx="450000" cy="45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Lato"/>
                <a:ea typeface="Lato"/>
                <a:cs typeface="Lato"/>
                <a:sym typeface="Lato"/>
              </a:rPr>
              <a:t>h</a:t>
            </a:r>
            <a:r>
              <a:rPr baseline="30000" lang="en" sz="900">
                <a:solidFill>
                  <a:schemeClr val="dk2"/>
                </a:solidFill>
                <a:latin typeface="Lato"/>
                <a:ea typeface="Lato"/>
                <a:cs typeface="Lato"/>
                <a:sym typeface="Lato"/>
              </a:rPr>
              <a:t>2</a:t>
            </a:r>
            <a:endParaRPr>
              <a:latin typeface="Lato"/>
              <a:ea typeface="Lato"/>
              <a:cs typeface="Lato"/>
              <a:sym typeface="Lato"/>
            </a:endParaRPr>
          </a:p>
        </p:txBody>
      </p:sp>
      <p:sp>
        <p:nvSpPr>
          <p:cNvPr id="276" name="Google Shape;276;p24"/>
          <p:cNvSpPr/>
          <p:nvPr/>
        </p:nvSpPr>
        <p:spPr>
          <a:xfrm>
            <a:off x="4257325" y="3271913"/>
            <a:ext cx="450000" cy="45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Lato"/>
                <a:ea typeface="Lato"/>
                <a:cs typeface="Lato"/>
                <a:sym typeface="Lato"/>
              </a:rPr>
              <a:t>h</a:t>
            </a:r>
            <a:r>
              <a:rPr baseline="30000" lang="en" sz="900">
                <a:solidFill>
                  <a:schemeClr val="dk2"/>
                </a:solidFill>
                <a:latin typeface="Lato"/>
                <a:ea typeface="Lato"/>
                <a:cs typeface="Lato"/>
                <a:sym typeface="Lato"/>
              </a:rPr>
              <a:t>0</a:t>
            </a:r>
            <a:endParaRPr sz="900">
              <a:latin typeface="Lato"/>
              <a:ea typeface="Lato"/>
              <a:cs typeface="Lato"/>
              <a:sym typeface="Lato"/>
            </a:endParaRPr>
          </a:p>
        </p:txBody>
      </p:sp>
      <p:sp>
        <p:nvSpPr>
          <p:cNvPr id="277" name="Google Shape;277;p24"/>
          <p:cNvSpPr/>
          <p:nvPr/>
        </p:nvSpPr>
        <p:spPr>
          <a:xfrm>
            <a:off x="4391275" y="4130550"/>
            <a:ext cx="182100" cy="187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p24"/>
          <p:cNvSpPr/>
          <p:nvPr/>
        </p:nvSpPr>
        <p:spPr>
          <a:xfrm>
            <a:off x="5695675" y="4130550"/>
            <a:ext cx="182100" cy="187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p24"/>
          <p:cNvSpPr/>
          <p:nvPr/>
        </p:nvSpPr>
        <p:spPr>
          <a:xfrm>
            <a:off x="5043475" y="3403025"/>
            <a:ext cx="182100" cy="187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0" name="Google Shape;280;p24"/>
          <p:cNvSpPr/>
          <p:nvPr/>
        </p:nvSpPr>
        <p:spPr>
          <a:xfrm>
            <a:off x="5114116" y="3475487"/>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1" name="Google Shape;281;p24"/>
          <p:cNvSpPr/>
          <p:nvPr/>
        </p:nvSpPr>
        <p:spPr>
          <a:xfrm>
            <a:off x="4461916" y="4203012"/>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2" name="Google Shape;282;p24"/>
          <p:cNvSpPr/>
          <p:nvPr/>
        </p:nvSpPr>
        <p:spPr>
          <a:xfrm>
            <a:off x="5766316" y="4203012"/>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83" name="Google Shape;283;p24"/>
          <p:cNvCxnSpPr>
            <a:stCxn id="272" idx="6"/>
            <a:endCxn id="277" idx="2"/>
          </p:cNvCxnSpPr>
          <p:nvPr/>
        </p:nvCxnSpPr>
        <p:spPr>
          <a:xfrm>
            <a:off x="4055125" y="4224450"/>
            <a:ext cx="336300" cy="0"/>
          </a:xfrm>
          <a:prstGeom prst="straightConnector1">
            <a:avLst/>
          </a:prstGeom>
          <a:noFill/>
          <a:ln cap="flat" cmpd="sng" w="9525">
            <a:solidFill>
              <a:schemeClr val="dk2"/>
            </a:solidFill>
            <a:prstDash val="solid"/>
            <a:round/>
            <a:headEnd len="med" w="med" type="none"/>
            <a:tailEnd len="med" w="med" type="triangle"/>
          </a:ln>
        </p:spPr>
      </p:cxnSp>
      <p:cxnSp>
        <p:nvCxnSpPr>
          <p:cNvPr id="284" name="Google Shape;284;p24"/>
          <p:cNvCxnSpPr>
            <a:stCxn id="277" idx="6"/>
            <a:endCxn id="273" idx="2"/>
          </p:cNvCxnSpPr>
          <p:nvPr/>
        </p:nvCxnSpPr>
        <p:spPr>
          <a:xfrm>
            <a:off x="4573375" y="4224450"/>
            <a:ext cx="336300" cy="0"/>
          </a:xfrm>
          <a:prstGeom prst="straightConnector1">
            <a:avLst/>
          </a:prstGeom>
          <a:noFill/>
          <a:ln cap="flat" cmpd="sng" w="9525">
            <a:solidFill>
              <a:schemeClr val="dk2"/>
            </a:solidFill>
            <a:prstDash val="solid"/>
            <a:round/>
            <a:headEnd len="med" w="med" type="none"/>
            <a:tailEnd len="med" w="med" type="triangle"/>
          </a:ln>
        </p:spPr>
      </p:cxnSp>
      <p:cxnSp>
        <p:nvCxnSpPr>
          <p:cNvPr id="285" name="Google Shape;285;p24"/>
          <p:cNvCxnSpPr>
            <a:stCxn id="273" idx="6"/>
            <a:endCxn id="278" idx="2"/>
          </p:cNvCxnSpPr>
          <p:nvPr/>
        </p:nvCxnSpPr>
        <p:spPr>
          <a:xfrm>
            <a:off x="5359525" y="4224450"/>
            <a:ext cx="336300" cy="0"/>
          </a:xfrm>
          <a:prstGeom prst="straightConnector1">
            <a:avLst/>
          </a:prstGeom>
          <a:noFill/>
          <a:ln cap="flat" cmpd="sng" w="9525">
            <a:solidFill>
              <a:schemeClr val="dk2"/>
            </a:solidFill>
            <a:prstDash val="solid"/>
            <a:round/>
            <a:headEnd len="med" w="med" type="none"/>
            <a:tailEnd len="med" w="med" type="triangle"/>
          </a:ln>
        </p:spPr>
      </p:cxnSp>
      <p:cxnSp>
        <p:nvCxnSpPr>
          <p:cNvPr id="286" name="Google Shape;286;p24"/>
          <p:cNvCxnSpPr>
            <a:stCxn id="278" idx="6"/>
            <a:endCxn id="274" idx="2"/>
          </p:cNvCxnSpPr>
          <p:nvPr/>
        </p:nvCxnSpPr>
        <p:spPr>
          <a:xfrm>
            <a:off x="5877775" y="4224450"/>
            <a:ext cx="336300" cy="0"/>
          </a:xfrm>
          <a:prstGeom prst="straightConnector1">
            <a:avLst/>
          </a:prstGeom>
          <a:noFill/>
          <a:ln cap="flat" cmpd="sng" w="9525">
            <a:solidFill>
              <a:schemeClr val="dk2"/>
            </a:solidFill>
            <a:prstDash val="solid"/>
            <a:round/>
            <a:headEnd len="med" w="med" type="none"/>
            <a:tailEnd len="med" w="med" type="triangle"/>
          </a:ln>
        </p:spPr>
      </p:cxnSp>
      <p:cxnSp>
        <p:nvCxnSpPr>
          <p:cNvPr id="287" name="Google Shape;287;p24"/>
          <p:cNvCxnSpPr>
            <a:stCxn id="276" idx="6"/>
            <a:endCxn id="279" idx="2"/>
          </p:cNvCxnSpPr>
          <p:nvPr/>
        </p:nvCxnSpPr>
        <p:spPr>
          <a:xfrm>
            <a:off x="4707325" y="3496913"/>
            <a:ext cx="336300" cy="0"/>
          </a:xfrm>
          <a:prstGeom prst="straightConnector1">
            <a:avLst/>
          </a:prstGeom>
          <a:noFill/>
          <a:ln cap="flat" cmpd="sng" w="9525">
            <a:solidFill>
              <a:schemeClr val="dk2"/>
            </a:solidFill>
            <a:prstDash val="solid"/>
            <a:round/>
            <a:headEnd len="med" w="med" type="none"/>
            <a:tailEnd len="med" w="med" type="triangle"/>
          </a:ln>
        </p:spPr>
      </p:cxnSp>
      <p:cxnSp>
        <p:nvCxnSpPr>
          <p:cNvPr id="288" name="Google Shape;288;p24"/>
          <p:cNvCxnSpPr>
            <a:stCxn id="279" idx="6"/>
            <a:endCxn id="275" idx="2"/>
          </p:cNvCxnSpPr>
          <p:nvPr/>
        </p:nvCxnSpPr>
        <p:spPr>
          <a:xfrm>
            <a:off x="5225575" y="3496925"/>
            <a:ext cx="336300" cy="0"/>
          </a:xfrm>
          <a:prstGeom prst="straightConnector1">
            <a:avLst/>
          </a:prstGeom>
          <a:noFill/>
          <a:ln cap="flat" cmpd="sng" w="9525">
            <a:solidFill>
              <a:schemeClr val="dk2"/>
            </a:solidFill>
            <a:prstDash val="solid"/>
            <a:round/>
            <a:headEnd len="med" w="med" type="none"/>
            <a:tailEnd len="med" w="med" type="triangle"/>
          </a:ln>
        </p:spPr>
      </p:cxnSp>
      <p:cxnSp>
        <p:nvCxnSpPr>
          <p:cNvPr id="289" name="Google Shape;289;p24"/>
          <p:cNvCxnSpPr>
            <a:stCxn id="276" idx="4"/>
            <a:endCxn id="277" idx="0"/>
          </p:cNvCxnSpPr>
          <p:nvPr/>
        </p:nvCxnSpPr>
        <p:spPr>
          <a:xfrm>
            <a:off x="4482325" y="3721913"/>
            <a:ext cx="0" cy="408600"/>
          </a:xfrm>
          <a:prstGeom prst="straightConnector1">
            <a:avLst/>
          </a:prstGeom>
          <a:noFill/>
          <a:ln cap="flat" cmpd="sng" w="9525">
            <a:solidFill>
              <a:schemeClr val="dk2"/>
            </a:solidFill>
            <a:prstDash val="dash"/>
            <a:round/>
            <a:headEnd len="med" w="med" type="none"/>
            <a:tailEnd len="med" w="med" type="triangle"/>
          </a:ln>
        </p:spPr>
      </p:cxnSp>
      <p:cxnSp>
        <p:nvCxnSpPr>
          <p:cNvPr id="290" name="Google Shape;290;p24"/>
          <p:cNvCxnSpPr>
            <a:stCxn id="273" idx="0"/>
            <a:endCxn id="279" idx="4"/>
          </p:cNvCxnSpPr>
          <p:nvPr/>
        </p:nvCxnSpPr>
        <p:spPr>
          <a:xfrm rot="10800000">
            <a:off x="5134525" y="3590850"/>
            <a:ext cx="0" cy="408600"/>
          </a:xfrm>
          <a:prstGeom prst="straightConnector1">
            <a:avLst/>
          </a:prstGeom>
          <a:noFill/>
          <a:ln cap="flat" cmpd="sng" w="9525">
            <a:solidFill>
              <a:schemeClr val="dk2"/>
            </a:solidFill>
            <a:prstDash val="dash"/>
            <a:round/>
            <a:headEnd len="med" w="med" type="none"/>
            <a:tailEnd len="med" w="med" type="triangle"/>
          </a:ln>
        </p:spPr>
      </p:cxnSp>
      <p:cxnSp>
        <p:nvCxnSpPr>
          <p:cNvPr id="291" name="Google Shape;291;p24"/>
          <p:cNvCxnSpPr>
            <a:stCxn id="275" idx="4"/>
            <a:endCxn id="278" idx="0"/>
          </p:cNvCxnSpPr>
          <p:nvPr/>
        </p:nvCxnSpPr>
        <p:spPr>
          <a:xfrm>
            <a:off x="5786725" y="3721913"/>
            <a:ext cx="0" cy="408600"/>
          </a:xfrm>
          <a:prstGeom prst="straightConnector1">
            <a:avLst/>
          </a:prstGeom>
          <a:noFill/>
          <a:ln cap="flat" cmpd="sng" w="9525">
            <a:solidFill>
              <a:schemeClr val="dk2"/>
            </a:solidFill>
            <a:prstDash val="dash"/>
            <a:round/>
            <a:headEnd len="med" w="med" type="none"/>
            <a:tailEnd len="med" w="med" type="triangle"/>
          </a:ln>
        </p:spPr>
      </p:cxnSp>
      <p:sp>
        <p:nvSpPr>
          <p:cNvPr id="292" name="Google Shape;292;p24"/>
          <p:cNvSpPr txBox="1"/>
          <p:nvPr/>
        </p:nvSpPr>
        <p:spPr>
          <a:xfrm>
            <a:off x="1581450" y="3496025"/>
            <a:ext cx="1292700" cy="36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Lato"/>
                <a:ea typeface="Lato"/>
                <a:cs typeface="Lato"/>
                <a:sym typeface="Lato"/>
              </a:rPr>
              <a:t>QR decomposition interaction</a:t>
            </a:r>
            <a:endParaRPr baseline="-25000" sz="1200">
              <a:latin typeface="Lato"/>
              <a:ea typeface="Lato"/>
              <a:cs typeface="Lato"/>
              <a:sym typeface="Lato"/>
            </a:endParaRPr>
          </a:p>
        </p:txBody>
      </p:sp>
      <p:cxnSp>
        <p:nvCxnSpPr>
          <p:cNvPr id="293" name="Google Shape;293;p24"/>
          <p:cNvCxnSpPr/>
          <p:nvPr/>
        </p:nvCxnSpPr>
        <p:spPr>
          <a:xfrm flipH="1" rot="10800000">
            <a:off x="6011725" y="3489713"/>
            <a:ext cx="1332900" cy="7200"/>
          </a:xfrm>
          <a:prstGeom prst="straightConnector1">
            <a:avLst/>
          </a:prstGeom>
          <a:noFill/>
          <a:ln cap="flat" cmpd="sng" w="9525">
            <a:solidFill>
              <a:schemeClr val="dk2"/>
            </a:solidFill>
            <a:prstDash val="solid"/>
            <a:round/>
            <a:headEnd len="med" w="med" type="none"/>
            <a:tailEnd len="med" w="med" type="triangle"/>
          </a:ln>
        </p:spPr>
      </p:cxnSp>
      <p:cxnSp>
        <p:nvCxnSpPr>
          <p:cNvPr id="294" name="Google Shape;294;p24"/>
          <p:cNvCxnSpPr/>
          <p:nvPr/>
        </p:nvCxnSpPr>
        <p:spPr>
          <a:xfrm>
            <a:off x="6663925" y="4224450"/>
            <a:ext cx="686400" cy="3000"/>
          </a:xfrm>
          <a:prstGeom prst="straightConnector1">
            <a:avLst/>
          </a:prstGeom>
          <a:noFill/>
          <a:ln cap="flat" cmpd="sng" w="9525">
            <a:solidFill>
              <a:schemeClr val="dk2"/>
            </a:solidFill>
            <a:prstDash val="solid"/>
            <a:round/>
            <a:headEnd len="med" w="med" type="none"/>
            <a:tailEnd len="med" w="med" type="triangle"/>
          </a:ln>
        </p:spPr>
      </p:cxnSp>
      <p:sp>
        <p:nvSpPr>
          <p:cNvPr id="295" name="Google Shape;295;p24"/>
          <p:cNvSpPr/>
          <p:nvPr/>
        </p:nvSpPr>
        <p:spPr>
          <a:xfrm>
            <a:off x="6747923" y="2188663"/>
            <a:ext cx="40800" cy="42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6" name="Google Shape;296;p24"/>
          <p:cNvSpPr txBox="1"/>
          <p:nvPr/>
        </p:nvSpPr>
        <p:spPr>
          <a:xfrm>
            <a:off x="1446475" y="4651725"/>
            <a:ext cx="6858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3"/>
              </a:rPr>
              <a:t>Melis, Gábor &amp; Kočiský, Tomáš &amp; Blunsom, Phil. (2019). Mogrifier LSTM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p25"/>
          <p:cNvSpPr txBox="1"/>
          <p:nvPr>
            <p:ph idx="4294967295" type="title"/>
          </p:nvPr>
        </p:nvSpPr>
        <p:spPr>
          <a:xfrm>
            <a:off x="1973400" y="-27300"/>
            <a:ext cx="51972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600">
                <a:solidFill>
                  <a:schemeClr val="dk1"/>
                </a:solidFill>
              </a:rPr>
              <a:t>Mogrifier LSTM</a:t>
            </a:r>
            <a:endParaRPr sz="2400"/>
          </a:p>
        </p:txBody>
      </p:sp>
      <p:pic>
        <p:nvPicPr>
          <p:cNvPr id="302" name="Google Shape;302;p25"/>
          <p:cNvPicPr preferRelativeResize="0"/>
          <p:nvPr/>
        </p:nvPicPr>
        <p:blipFill rotWithShape="1">
          <a:blip r:embed="rId3">
            <a:alphaModFix/>
          </a:blip>
          <a:srcRect b="0" l="0" r="0" t="1854"/>
          <a:stretch/>
        </p:blipFill>
        <p:spPr>
          <a:xfrm>
            <a:off x="198725" y="1106325"/>
            <a:ext cx="5561276" cy="3371099"/>
          </a:xfrm>
          <a:prstGeom prst="rect">
            <a:avLst/>
          </a:prstGeom>
          <a:noFill/>
          <a:ln>
            <a:noFill/>
          </a:ln>
        </p:spPr>
      </p:pic>
      <p:sp>
        <p:nvSpPr>
          <p:cNvPr id="303" name="Google Shape;303;p25"/>
          <p:cNvSpPr txBox="1"/>
          <p:nvPr/>
        </p:nvSpPr>
        <p:spPr>
          <a:xfrm>
            <a:off x="6116600" y="961500"/>
            <a:ext cx="2699100" cy="37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Model:</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Training:</a:t>
            </a:r>
            <a:endParaRPr sz="1800">
              <a:solidFill>
                <a:schemeClr val="dk2"/>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6"/>
          <p:cNvSpPr txBox="1"/>
          <p:nvPr>
            <p:ph idx="4294967295" type="title"/>
          </p:nvPr>
        </p:nvSpPr>
        <p:spPr>
          <a:xfrm>
            <a:off x="152400" y="367575"/>
            <a:ext cx="27540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300">
                <a:solidFill>
                  <a:schemeClr val="dk1"/>
                </a:solidFill>
              </a:rPr>
              <a:t>Storage</a:t>
            </a:r>
            <a:endParaRPr sz="2100"/>
          </a:p>
        </p:txBody>
      </p:sp>
      <p:pic>
        <p:nvPicPr>
          <p:cNvPr id="309" name="Google Shape;309;p26"/>
          <p:cNvPicPr preferRelativeResize="0"/>
          <p:nvPr/>
        </p:nvPicPr>
        <p:blipFill>
          <a:blip r:embed="rId3">
            <a:alphaModFix/>
          </a:blip>
          <a:stretch>
            <a:fillRect/>
          </a:stretch>
        </p:blipFill>
        <p:spPr>
          <a:xfrm>
            <a:off x="650400" y="1263575"/>
            <a:ext cx="1393625" cy="1393625"/>
          </a:xfrm>
          <a:prstGeom prst="rect">
            <a:avLst/>
          </a:prstGeom>
          <a:noFill/>
          <a:ln>
            <a:noFill/>
          </a:ln>
        </p:spPr>
      </p:pic>
      <p:pic>
        <p:nvPicPr>
          <p:cNvPr id="310" name="Google Shape;310;p26"/>
          <p:cNvPicPr preferRelativeResize="0"/>
          <p:nvPr/>
        </p:nvPicPr>
        <p:blipFill>
          <a:blip r:embed="rId4">
            <a:alphaModFix/>
          </a:blip>
          <a:stretch>
            <a:fillRect/>
          </a:stretch>
        </p:blipFill>
        <p:spPr>
          <a:xfrm>
            <a:off x="3666575" y="1502500"/>
            <a:ext cx="1426638" cy="1653701"/>
          </a:xfrm>
          <a:prstGeom prst="rect">
            <a:avLst/>
          </a:prstGeom>
          <a:noFill/>
          <a:ln>
            <a:noFill/>
          </a:ln>
        </p:spPr>
      </p:pic>
      <p:pic>
        <p:nvPicPr>
          <p:cNvPr id="311" name="Google Shape;311;p26"/>
          <p:cNvPicPr preferRelativeResize="0"/>
          <p:nvPr/>
        </p:nvPicPr>
        <p:blipFill>
          <a:blip r:embed="rId5">
            <a:alphaModFix/>
          </a:blip>
          <a:stretch>
            <a:fillRect/>
          </a:stretch>
        </p:blipFill>
        <p:spPr>
          <a:xfrm>
            <a:off x="6387688" y="1263575"/>
            <a:ext cx="2116577" cy="1190575"/>
          </a:xfrm>
          <a:prstGeom prst="rect">
            <a:avLst/>
          </a:prstGeom>
          <a:noFill/>
          <a:ln>
            <a:noFill/>
          </a:ln>
        </p:spPr>
      </p:pic>
      <p:pic>
        <p:nvPicPr>
          <p:cNvPr id="312" name="Google Shape;312;p26"/>
          <p:cNvPicPr preferRelativeResize="0"/>
          <p:nvPr/>
        </p:nvPicPr>
        <p:blipFill>
          <a:blip r:embed="rId6">
            <a:alphaModFix/>
          </a:blip>
          <a:stretch>
            <a:fillRect/>
          </a:stretch>
        </p:blipFill>
        <p:spPr>
          <a:xfrm>
            <a:off x="6186375" y="2657200"/>
            <a:ext cx="2901951" cy="841575"/>
          </a:xfrm>
          <a:prstGeom prst="rect">
            <a:avLst/>
          </a:prstGeom>
          <a:noFill/>
          <a:ln>
            <a:noFill/>
          </a:ln>
        </p:spPr>
      </p:pic>
      <p:pic>
        <p:nvPicPr>
          <p:cNvPr id="313" name="Google Shape;313;p26"/>
          <p:cNvPicPr preferRelativeResize="0"/>
          <p:nvPr/>
        </p:nvPicPr>
        <p:blipFill>
          <a:blip r:embed="rId7">
            <a:alphaModFix/>
          </a:blip>
          <a:stretch>
            <a:fillRect/>
          </a:stretch>
        </p:blipFill>
        <p:spPr>
          <a:xfrm>
            <a:off x="459063" y="2785200"/>
            <a:ext cx="1776300" cy="1776300"/>
          </a:xfrm>
          <a:prstGeom prst="rect">
            <a:avLst/>
          </a:prstGeom>
          <a:noFill/>
          <a:ln>
            <a:noFill/>
          </a:ln>
        </p:spPr>
      </p:pic>
      <p:pic>
        <p:nvPicPr>
          <p:cNvPr id="314" name="Google Shape;314;p26"/>
          <p:cNvPicPr preferRelativeResize="0"/>
          <p:nvPr/>
        </p:nvPicPr>
        <p:blipFill>
          <a:blip r:embed="rId8">
            <a:alphaModFix/>
          </a:blip>
          <a:stretch>
            <a:fillRect/>
          </a:stretch>
        </p:blipFill>
        <p:spPr>
          <a:xfrm>
            <a:off x="3000761" y="3514050"/>
            <a:ext cx="2758277" cy="571625"/>
          </a:xfrm>
          <a:prstGeom prst="rect">
            <a:avLst/>
          </a:prstGeom>
          <a:noFill/>
          <a:ln>
            <a:noFill/>
          </a:ln>
        </p:spPr>
      </p:pic>
      <p:pic>
        <p:nvPicPr>
          <p:cNvPr id="315" name="Google Shape;315;p26"/>
          <p:cNvPicPr preferRelativeResize="0"/>
          <p:nvPr/>
        </p:nvPicPr>
        <p:blipFill>
          <a:blip r:embed="rId9">
            <a:alphaModFix/>
          </a:blip>
          <a:stretch>
            <a:fillRect/>
          </a:stretch>
        </p:blipFill>
        <p:spPr>
          <a:xfrm>
            <a:off x="6749163" y="3514050"/>
            <a:ext cx="1393625" cy="1393625"/>
          </a:xfrm>
          <a:prstGeom prst="rect">
            <a:avLst/>
          </a:prstGeom>
          <a:noFill/>
          <a:ln>
            <a:noFill/>
          </a:ln>
        </p:spPr>
      </p:pic>
      <p:sp>
        <p:nvSpPr>
          <p:cNvPr id="316" name="Google Shape;316;p26"/>
          <p:cNvSpPr txBox="1"/>
          <p:nvPr>
            <p:ph idx="4294967295" type="title"/>
          </p:nvPr>
        </p:nvSpPr>
        <p:spPr>
          <a:xfrm>
            <a:off x="3002900" y="376650"/>
            <a:ext cx="27540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300">
                <a:solidFill>
                  <a:schemeClr val="dk1"/>
                </a:solidFill>
              </a:rPr>
              <a:t>Environment</a:t>
            </a:r>
            <a:endParaRPr sz="2100"/>
          </a:p>
        </p:txBody>
      </p:sp>
      <p:sp>
        <p:nvSpPr>
          <p:cNvPr id="317" name="Google Shape;317;p26"/>
          <p:cNvSpPr txBox="1"/>
          <p:nvPr>
            <p:ph idx="4294967295" type="title"/>
          </p:nvPr>
        </p:nvSpPr>
        <p:spPr>
          <a:xfrm>
            <a:off x="6068975" y="376650"/>
            <a:ext cx="27540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300">
                <a:solidFill>
                  <a:schemeClr val="dk1"/>
                </a:solidFill>
              </a:rPr>
              <a:t>Coding</a:t>
            </a:r>
            <a:endParaRPr sz="2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7"/>
          <p:cNvSpPr txBox="1"/>
          <p:nvPr>
            <p:ph idx="4294967295" type="title"/>
          </p:nvPr>
        </p:nvSpPr>
        <p:spPr>
          <a:xfrm>
            <a:off x="535775" y="712150"/>
            <a:ext cx="56739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Results</a:t>
            </a:r>
            <a:endParaRPr sz="2400"/>
          </a:p>
        </p:txBody>
      </p:sp>
      <p:graphicFrame>
        <p:nvGraphicFramePr>
          <p:cNvPr id="323" name="Google Shape;323;p27"/>
          <p:cNvGraphicFramePr/>
          <p:nvPr/>
        </p:nvGraphicFramePr>
        <p:xfrm>
          <a:off x="826188" y="1480150"/>
          <a:ext cx="3000000" cy="3000000"/>
        </p:xfrm>
        <a:graphic>
          <a:graphicData uri="http://schemas.openxmlformats.org/drawingml/2006/table">
            <a:tbl>
              <a:tblPr>
                <a:noFill/>
                <a:tableStyleId>{2F9FCDCF-194E-4FC4-898B-3F7575970EA5}</a:tableStyleId>
              </a:tblPr>
              <a:tblGrid>
                <a:gridCol w="2157775"/>
                <a:gridCol w="1393925"/>
                <a:gridCol w="1775850"/>
                <a:gridCol w="1775850"/>
              </a:tblGrid>
              <a:tr h="378700">
                <a:tc>
                  <a:txBody>
                    <a:bodyPr/>
                    <a:lstStyle/>
                    <a:p>
                      <a:pPr indent="0" lvl="0" marL="0" rtl="0" algn="ctr">
                        <a:spcBef>
                          <a:spcPts val="0"/>
                        </a:spcBef>
                        <a:spcAft>
                          <a:spcPts val="0"/>
                        </a:spcAft>
                        <a:buNone/>
                      </a:pPr>
                      <a:r>
                        <a:rPr b="1" lang="en" sz="1100"/>
                        <a:t>MODEL</a:t>
                      </a:r>
                      <a:endParaRPr b="1" sz="1100"/>
                    </a:p>
                  </a:txBody>
                  <a:tcPr marT="91425" marB="91425" marR="91425" marL="91425">
                    <a:solidFill>
                      <a:schemeClr val="accent6"/>
                    </a:solidFill>
                  </a:tcPr>
                </a:tc>
                <a:tc>
                  <a:txBody>
                    <a:bodyPr/>
                    <a:lstStyle/>
                    <a:p>
                      <a:pPr indent="0" lvl="0" marL="0" rtl="0" algn="ctr">
                        <a:spcBef>
                          <a:spcPts val="0"/>
                        </a:spcBef>
                        <a:spcAft>
                          <a:spcPts val="0"/>
                        </a:spcAft>
                        <a:buNone/>
                      </a:pPr>
                      <a:r>
                        <a:rPr b="1" lang="en" sz="1100"/>
                        <a:t>MAPE</a:t>
                      </a:r>
                      <a:endParaRPr b="1" sz="1100"/>
                    </a:p>
                  </a:txBody>
                  <a:tcPr marT="91425" marB="91425" marR="91425" marL="91425">
                    <a:solidFill>
                      <a:schemeClr val="accent6"/>
                    </a:solidFill>
                  </a:tcPr>
                </a:tc>
                <a:tc>
                  <a:txBody>
                    <a:bodyPr/>
                    <a:lstStyle/>
                    <a:p>
                      <a:pPr indent="0" lvl="0" marL="0" rtl="0" algn="ctr">
                        <a:spcBef>
                          <a:spcPts val="0"/>
                        </a:spcBef>
                        <a:spcAft>
                          <a:spcPts val="0"/>
                        </a:spcAft>
                        <a:buNone/>
                      </a:pPr>
                      <a:r>
                        <a:rPr b="1" lang="en" sz="1100"/>
                        <a:t>TRAIN TIME</a:t>
                      </a:r>
                      <a:endParaRPr b="1" sz="1100"/>
                    </a:p>
                  </a:txBody>
                  <a:tcPr marT="91425" marB="91425" marR="91425" marL="91425">
                    <a:solidFill>
                      <a:schemeClr val="accent6"/>
                    </a:solidFill>
                  </a:tcPr>
                </a:tc>
                <a:tc>
                  <a:txBody>
                    <a:bodyPr/>
                    <a:lstStyle/>
                    <a:p>
                      <a:pPr indent="0" lvl="0" marL="0" rtl="0" algn="ctr">
                        <a:spcBef>
                          <a:spcPts val="0"/>
                        </a:spcBef>
                        <a:spcAft>
                          <a:spcPts val="0"/>
                        </a:spcAft>
                        <a:buNone/>
                      </a:pPr>
                      <a:r>
                        <a:rPr b="1" lang="en" sz="1100"/>
                        <a:t>TESTING TIME</a:t>
                      </a:r>
                      <a:endParaRPr b="1" sz="1100"/>
                    </a:p>
                  </a:txBody>
                  <a:tcPr marT="91425" marB="91425" marR="91425" marL="91425">
                    <a:solidFill>
                      <a:schemeClr val="accent6"/>
                    </a:solidFill>
                  </a:tcPr>
                </a:tc>
              </a:tr>
              <a:tr h="378700">
                <a:tc>
                  <a:txBody>
                    <a:bodyPr/>
                    <a:lstStyle/>
                    <a:p>
                      <a:pPr indent="0" lvl="0" marL="0" rtl="0" algn="l">
                        <a:spcBef>
                          <a:spcPts val="0"/>
                        </a:spcBef>
                        <a:spcAft>
                          <a:spcPts val="0"/>
                        </a:spcAft>
                        <a:buNone/>
                      </a:pPr>
                      <a:r>
                        <a:rPr lang="en" sz="1200"/>
                        <a:t>SimpleRNN Individual</a:t>
                      </a:r>
                      <a:endParaRPr sz="1200"/>
                    </a:p>
                  </a:txBody>
                  <a:tcPr marT="91425" marB="91425" marR="91425" marL="91425"/>
                </a:tc>
                <a:tc>
                  <a:txBody>
                    <a:bodyPr/>
                    <a:lstStyle/>
                    <a:p>
                      <a:pPr indent="0" lvl="0" marL="0" rtl="0" algn="ctr">
                        <a:spcBef>
                          <a:spcPts val="0"/>
                        </a:spcBef>
                        <a:spcAft>
                          <a:spcPts val="0"/>
                        </a:spcAft>
                        <a:buNone/>
                      </a:pPr>
                      <a:r>
                        <a:rPr lang="en" sz="1200"/>
                        <a:t>86.55%</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57,106 Sec</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750 Sec</a:t>
                      </a:r>
                      <a:endParaRPr sz="1200"/>
                    </a:p>
                  </a:txBody>
                  <a:tcPr marT="91425" marB="91425" marR="91425" marL="91425">
                    <a:lnB cap="flat" cmpd="sng" w="9525">
                      <a:solidFill>
                        <a:srgbClr val="9E9E9E"/>
                      </a:solidFill>
                      <a:prstDash val="solid"/>
                      <a:round/>
                      <a:headEnd len="sm" w="sm" type="none"/>
                      <a:tailEnd len="sm" w="sm" type="none"/>
                    </a:lnB>
                  </a:tcPr>
                </a:tc>
              </a:tr>
              <a:tr h="378700">
                <a:tc>
                  <a:txBody>
                    <a:bodyPr/>
                    <a:lstStyle/>
                    <a:p>
                      <a:pPr indent="0" lvl="0" marL="0" rtl="0" algn="l">
                        <a:spcBef>
                          <a:spcPts val="0"/>
                        </a:spcBef>
                        <a:spcAft>
                          <a:spcPts val="0"/>
                        </a:spcAft>
                        <a:buNone/>
                      </a:pPr>
                      <a:r>
                        <a:rPr lang="en" sz="1200"/>
                        <a:t>Simple RNN Aggregate</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sz="1200"/>
                        <a:t>12.44%</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57,106 Sec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750 Sec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700">
                <a:tc>
                  <a:txBody>
                    <a:bodyPr/>
                    <a:lstStyle/>
                    <a:p>
                      <a:pPr indent="0" lvl="0" marL="0" rtl="0" algn="l">
                        <a:spcBef>
                          <a:spcPts val="0"/>
                        </a:spcBef>
                        <a:spcAft>
                          <a:spcPts val="0"/>
                        </a:spcAft>
                        <a:buNone/>
                      </a:pPr>
                      <a:r>
                        <a:rPr lang="en" sz="1200"/>
                        <a:t>LSTM Individual</a:t>
                      </a:r>
                      <a:endParaRPr sz="1200"/>
                    </a:p>
                  </a:txBody>
                  <a:tcPr marT="91425" marB="91425" marR="91425" marL="91425"/>
                </a:tc>
                <a:tc>
                  <a:txBody>
                    <a:bodyPr/>
                    <a:lstStyle/>
                    <a:p>
                      <a:pPr indent="0" lvl="0" marL="0" rtl="0" algn="ctr">
                        <a:spcBef>
                          <a:spcPts val="0"/>
                        </a:spcBef>
                        <a:spcAft>
                          <a:spcPts val="0"/>
                        </a:spcAft>
                        <a:buNone/>
                      </a:pPr>
                      <a:r>
                        <a:rPr lang="en" sz="1200"/>
                        <a:t>79.77%</a:t>
                      </a:r>
                      <a:endParaRPr sz="12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200"/>
                        <a:t>84,266 Sec</a:t>
                      </a:r>
                      <a:endParaRPr sz="1200"/>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958 Sec</a:t>
                      </a:r>
                      <a:endParaRPr sz="1200"/>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700">
                <a:tc>
                  <a:txBody>
                    <a:bodyPr/>
                    <a:lstStyle/>
                    <a:p>
                      <a:pPr indent="0" lvl="0" marL="0" rtl="0" algn="l">
                        <a:spcBef>
                          <a:spcPts val="0"/>
                        </a:spcBef>
                        <a:spcAft>
                          <a:spcPts val="0"/>
                        </a:spcAft>
                        <a:buNone/>
                      </a:pPr>
                      <a:r>
                        <a:rPr lang="en" sz="1200"/>
                        <a:t>LSTM Aggregate</a:t>
                      </a:r>
                      <a:endParaRPr sz="1200"/>
                    </a:p>
                  </a:txBody>
                  <a:tcPr marT="91425" marB="91425" marR="91425" marL="91425"/>
                </a:tc>
                <a:tc>
                  <a:txBody>
                    <a:bodyPr/>
                    <a:lstStyle/>
                    <a:p>
                      <a:pPr indent="0" lvl="0" marL="0" rtl="0" algn="ctr">
                        <a:spcBef>
                          <a:spcPts val="0"/>
                        </a:spcBef>
                        <a:spcAft>
                          <a:spcPts val="0"/>
                        </a:spcAft>
                        <a:buNone/>
                      </a:pPr>
                      <a:r>
                        <a:rPr lang="en" sz="1200"/>
                        <a:t>7.55%</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sz="1200"/>
                        <a:t>84,266 Sec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958 Sec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700">
                <a:tc>
                  <a:txBody>
                    <a:bodyPr/>
                    <a:lstStyle/>
                    <a:p>
                      <a:pPr indent="0" lvl="0" marL="0" rtl="0" algn="l">
                        <a:spcBef>
                          <a:spcPts val="0"/>
                        </a:spcBef>
                        <a:spcAft>
                          <a:spcPts val="0"/>
                        </a:spcAft>
                        <a:buNone/>
                      </a:pPr>
                      <a:r>
                        <a:rPr lang="en" sz="1200"/>
                        <a:t>Momentum RNN Individual</a:t>
                      </a:r>
                      <a:endParaRPr sz="1200"/>
                    </a:p>
                  </a:txBody>
                  <a:tcPr marT="91425" marB="91425" marR="91425" marL="91425"/>
                </a:tc>
                <a:tc>
                  <a:txBody>
                    <a:bodyPr/>
                    <a:lstStyle/>
                    <a:p>
                      <a:pPr indent="0" lvl="0" marL="0" rtl="0" algn="ctr">
                        <a:spcBef>
                          <a:spcPts val="0"/>
                        </a:spcBef>
                        <a:spcAft>
                          <a:spcPts val="0"/>
                        </a:spcAft>
                        <a:buNone/>
                      </a:pPr>
                      <a:r>
                        <a:rPr lang="en" sz="1200"/>
                        <a:t>89.47%</a:t>
                      </a:r>
                      <a:endParaRPr sz="1200"/>
                    </a:p>
                  </a:txBody>
                  <a:tcPr marT="91425" marB="91425" marR="91425" marL="91425"/>
                </a:tc>
                <a:tc>
                  <a:txBody>
                    <a:bodyPr/>
                    <a:lstStyle/>
                    <a:p>
                      <a:pPr indent="0" lvl="0" marL="0" rtl="0" algn="ctr">
                        <a:spcBef>
                          <a:spcPts val="0"/>
                        </a:spcBef>
                        <a:spcAft>
                          <a:spcPts val="0"/>
                        </a:spcAft>
                        <a:buNone/>
                      </a:pPr>
                      <a:r>
                        <a:rPr lang="en" sz="1200"/>
                        <a:t>43,201 Sec</a:t>
                      </a:r>
                      <a:endParaRPr sz="1200"/>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725 Sec</a:t>
                      </a:r>
                      <a:endParaRPr sz="1200"/>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7725">
                <a:tc>
                  <a:txBody>
                    <a:bodyPr/>
                    <a:lstStyle/>
                    <a:p>
                      <a:pPr indent="0" lvl="0" marL="0" rtl="0" algn="l">
                        <a:spcBef>
                          <a:spcPts val="0"/>
                        </a:spcBef>
                        <a:spcAft>
                          <a:spcPts val="0"/>
                        </a:spcAft>
                        <a:buNone/>
                      </a:pPr>
                      <a:r>
                        <a:rPr lang="en" sz="1200"/>
                        <a:t>Momentum RNN Aggregate</a:t>
                      </a:r>
                      <a:endParaRPr sz="1200"/>
                    </a:p>
                  </a:txBody>
                  <a:tcPr marT="91425" marB="91425" marR="91425" marL="91425"/>
                </a:tc>
                <a:tc>
                  <a:txBody>
                    <a:bodyPr/>
                    <a:lstStyle/>
                    <a:p>
                      <a:pPr indent="0" lvl="0" marL="0" rtl="0" algn="ctr">
                        <a:spcBef>
                          <a:spcPts val="0"/>
                        </a:spcBef>
                        <a:spcAft>
                          <a:spcPts val="0"/>
                        </a:spcAft>
                        <a:buNone/>
                      </a:pPr>
                      <a:r>
                        <a:rPr lang="en" sz="1200"/>
                        <a:t>14.95%</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 sz="1200"/>
                        <a:t>43,201 Sec</a:t>
                      </a:r>
                      <a:endParaRPr b="1"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t>725 Sec</a:t>
                      </a:r>
                      <a:endParaRPr b="1"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700">
                <a:tc>
                  <a:txBody>
                    <a:bodyPr/>
                    <a:lstStyle/>
                    <a:p>
                      <a:pPr indent="0" lvl="0" marL="0" rtl="0" algn="l">
                        <a:spcBef>
                          <a:spcPts val="0"/>
                        </a:spcBef>
                        <a:spcAft>
                          <a:spcPts val="0"/>
                        </a:spcAft>
                        <a:buNone/>
                      </a:pPr>
                      <a:r>
                        <a:rPr lang="en" sz="1200"/>
                        <a:t>Mogrifier LSTM Individual</a:t>
                      </a:r>
                      <a:endParaRPr sz="1200"/>
                    </a:p>
                  </a:txBody>
                  <a:tcPr marT="91425" marB="91425" marR="91425" marL="91425"/>
                </a:tc>
                <a:tc>
                  <a:txBody>
                    <a:bodyPr/>
                    <a:lstStyle/>
                    <a:p>
                      <a:pPr indent="0" lvl="0" marL="0" rtl="0" algn="ctr">
                        <a:spcBef>
                          <a:spcPts val="0"/>
                        </a:spcBef>
                        <a:spcAft>
                          <a:spcPts val="0"/>
                        </a:spcAft>
                        <a:buNone/>
                      </a:pPr>
                      <a:r>
                        <a:rPr lang="en" sz="1200"/>
                        <a:t>78.82%</a:t>
                      </a:r>
                      <a:endParaRPr sz="1200"/>
                    </a:p>
                  </a:txBody>
                  <a:tcPr marT="91425" marB="91425" marR="91425" marL="91425"/>
                </a:tc>
                <a:tc>
                  <a:txBody>
                    <a:bodyPr/>
                    <a:lstStyle/>
                    <a:p>
                      <a:pPr indent="0" lvl="0" marL="0" rtl="0" algn="ctr">
                        <a:spcBef>
                          <a:spcPts val="0"/>
                        </a:spcBef>
                        <a:spcAft>
                          <a:spcPts val="0"/>
                        </a:spcAft>
                        <a:buNone/>
                      </a:pPr>
                      <a:r>
                        <a:rPr lang="en" sz="1200"/>
                        <a:t>106,211 Sec</a:t>
                      </a:r>
                      <a:endParaRPr sz="1200"/>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955 Sec</a:t>
                      </a:r>
                      <a:endParaRPr sz="1200"/>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700">
                <a:tc>
                  <a:txBody>
                    <a:bodyPr/>
                    <a:lstStyle/>
                    <a:p>
                      <a:pPr indent="0" lvl="0" marL="0" rtl="0" algn="l">
                        <a:spcBef>
                          <a:spcPts val="0"/>
                        </a:spcBef>
                        <a:spcAft>
                          <a:spcPts val="0"/>
                        </a:spcAft>
                        <a:buNone/>
                      </a:pPr>
                      <a:r>
                        <a:rPr lang="en" sz="1200"/>
                        <a:t>Mogrifier LSTM Aggregate</a:t>
                      </a:r>
                      <a:endParaRPr sz="1200"/>
                    </a:p>
                  </a:txBody>
                  <a:tcPr marT="91425" marB="91425" marR="91425" marL="91425"/>
                </a:tc>
                <a:tc>
                  <a:txBody>
                    <a:bodyPr/>
                    <a:lstStyle/>
                    <a:p>
                      <a:pPr indent="0" lvl="0" marL="0" rtl="0" algn="ctr">
                        <a:spcBef>
                          <a:spcPts val="0"/>
                        </a:spcBef>
                        <a:spcAft>
                          <a:spcPts val="0"/>
                        </a:spcAft>
                        <a:buNone/>
                      </a:pPr>
                      <a:r>
                        <a:rPr b="1" lang="en" sz="1200"/>
                        <a:t>7.16%</a:t>
                      </a:r>
                      <a:endParaRPr b="1"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sz="1200"/>
                        <a:t>106,211 Sec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955 Sec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8"/>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Task Allocation</a:t>
            </a:r>
            <a:endParaRPr sz="2400"/>
          </a:p>
        </p:txBody>
      </p:sp>
      <p:sp>
        <p:nvSpPr>
          <p:cNvPr id="329" name="Google Shape;329;p28"/>
          <p:cNvSpPr txBox="1"/>
          <p:nvPr>
            <p:ph idx="4294967295" type="title"/>
          </p:nvPr>
        </p:nvSpPr>
        <p:spPr>
          <a:xfrm>
            <a:off x="535775" y="1480150"/>
            <a:ext cx="7978500" cy="3067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Data Preprocessing:</a:t>
            </a:r>
            <a:r>
              <a:rPr b="0" lang="en" sz="1800">
                <a:latin typeface="Lato"/>
                <a:ea typeface="Lato"/>
                <a:cs typeface="Lato"/>
                <a:sym typeface="Lato"/>
              </a:rPr>
              <a:t> Jason Kluge, Kishore Prakasan</a:t>
            </a:r>
            <a:endParaRPr b="0" sz="1800">
              <a:latin typeface="Lato"/>
              <a:ea typeface="Lato"/>
              <a:cs typeface="Lato"/>
              <a:sym typeface="Lato"/>
            </a:endParaRPr>
          </a:p>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Build MomentumRNN Model:</a:t>
            </a:r>
            <a:r>
              <a:rPr b="0" lang="en" sz="1800">
                <a:latin typeface="Lato"/>
                <a:ea typeface="Lato"/>
                <a:cs typeface="Lato"/>
                <a:sym typeface="Lato"/>
              </a:rPr>
              <a:t> Jason Kluge</a:t>
            </a:r>
            <a:endParaRPr b="0" sz="1800">
              <a:latin typeface="Lato"/>
              <a:ea typeface="Lato"/>
              <a:cs typeface="Lato"/>
              <a:sym typeface="Lato"/>
            </a:endParaRPr>
          </a:p>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Build MogrifierLSTM Model</a:t>
            </a:r>
            <a:r>
              <a:rPr b="0" lang="en" sz="1800">
                <a:latin typeface="Lato"/>
                <a:ea typeface="Lato"/>
                <a:cs typeface="Lato"/>
                <a:sym typeface="Lato"/>
              </a:rPr>
              <a:t>: Steve Burgos</a:t>
            </a:r>
            <a:endParaRPr b="0" sz="1800">
              <a:latin typeface="Lato"/>
              <a:ea typeface="Lato"/>
              <a:cs typeface="Lato"/>
              <a:sym typeface="Lato"/>
            </a:endParaRPr>
          </a:p>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Implementing Training and Testing of Models:</a:t>
            </a:r>
            <a:r>
              <a:rPr b="0" lang="en" sz="1800">
                <a:latin typeface="Lato"/>
                <a:ea typeface="Lato"/>
                <a:cs typeface="Lato"/>
                <a:sym typeface="Lato"/>
              </a:rPr>
              <a:t> Steve Burgos,  Ivan Macsemchuck</a:t>
            </a:r>
            <a:endParaRPr b="0" sz="1800">
              <a:latin typeface="Lato"/>
              <a:ea typeface="Lato"/>
              <a:cs typeface="Lato"/>
              <a:sym typeface="Lato"/>
            </a:endParaRPr>
          </a:p>
          <a:p>
            <a:pPr indent="-342900" lvl="0" marL="457200" rtl="0" algn="l">
              <a:lnSpc>
                <a:spcPct val="115000"/>
              </a:lnSpc>
              <a:spcBef>
                <a:spcPts val="0"/>
              </a:spcBef>
              <a:spcAft>
                <a:spcPts val="0"/>
              </a:spcAft>
              <a:buSzPts val="1800"/>
              <a:buFont typeface="Lato"/>
              <a:buChar char="●"/>
            </a:pPr>
            <a:r>
              <a:rPr lang="en" sz="1800">
                <a:latin typeface="Lato"/>
                <a:ea typeface="Lato"/>
                <a:cs typeface="Lato"/>
                <a:sym typeface="Lato"/>
              </a:rPr>
              <a:t>Implement</a:t>
            </a:r>
            <a:r>
              <a:rPr lang="en" sz="1800">
                <a:latin typeface="Lato"/>
                <a:ea typeface="Lato"/>
                <a:cs typeface="Lato"/>
                <a:sym typeface="Lato"/>
              </a:rPr>
              <a:t> Code for Capturing Results:</a:t>
            </a:r>
            <a:r>
              <a:rPr b="0" lang="en" sz="1800">
                <a:latin typeface="Lato"/>
                <a:ea typeface="Lato"/>
                <a:cs typeface="Lato"/>
                <a:sym typeface="Lato"/>
              </a:rPr>
              <a:t> Kishore Prakasan, Ivan Macsemchuck</a:t>
            </a:r>
            <a:endParaRPr b="0" sz="1800">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9"/>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Discussion</a:t>
            </a:r>
            <a:endParaRPr sz="2400"/>
          </a:p>
        </p:txBody>
      </p:sp>
      <p:sp>
        <p:nvSpPr>
          <p:cNvPr id="335" name="Google Shape;335;p29"/>
          <p:cNvSpPr txBox="1"/>
          <p:nvPr>
            <p:ph idx="4294967295" type="title"/>
          </p:nvPr>
        </p:nvSpPr>
        <p:spPr>
          <a:xfrm>
            <a:off x="535775" y="1755575"/>
            <a:ext cx="7872600" cy="27921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Lato"/>
              <a:buChar char="●"/>
            </a:pPr>
            <a:r>
              <a:rPr b="0" lang="en" sz="1800">
                <a:latin typeface="Lato"/>
                <a:ea typeface="Lato"/>
                <a:cs typeface="Lato"/>
                <a:sym typeface="Lato"/>
              </a:rPr>
              <a:t>While individual prediction remains a challenge we are able to reach satisfactory results on a city scale by aggregating individual results</a:t>
            </a:r>
            <a:endParaRPr b="0" sz="1800">
              <a:latin typeface="Lato"/>
              <a:ea typeface="Lato"/>
              <a:cs typeface="Lato"/>
              <a:sym typeface="Lato"/>
            </a:endParaRPr>
          </a:p>
          <a:p>
            <a:pPr indent="-342900" lvl="0" marL="457200" rtl="0" algn="l">
              <a:lnSpc>
                <a:spcPct val="150000"/>
              </a:lnSpc>
              <a:spcBef>
                <a:spcPts val="0"/>
              </a:spcBef>
              <a:spcAft>
                <a:spcPts val="0"/>
              </a:spcAft>
              <a:buSzPts val="1800"/>
              <a:buFont typeface="Lato"/>
              <a:buChar char="●"/>
            </a:pPr>
            <a:r>
              <a:rPr b="0" lang="en" sz="1800">
                <a:latin typeface="Lato"/>
                <a:ea typeface="Lato"/>
                <a:cs typeface="Lato"/>
                <a:sym typeface="Lato"/>
              </a:rPr>
              <a:t>Mogrifier LSTM does provide modest improvements in accuracy with an increase in training and testing time</a:t>
            </a:r>
            <a:endParaRPr b="0" sz="180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0"/>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3800"/>
              <a:t>QA</a:t>
            </a:r>
            <a:endParaRPr sz="14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